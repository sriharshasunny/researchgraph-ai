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9" r:id="rId7"/>
    <p:sldMasterId id="2147483661" r:id="rId8"/>
    <p:sldMasterId id="2147483663" r:id="rId9"/>
    <p:sldMasterId id="2147483665" r:id="rId10"/>
    <p:sldMasterId id="2147483667" r:id="rId11"/>
    <p:sldMasterId id="2147483668" r:id="rId12"/>
    <p:sldMasterId id="2147483669"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sldImg"/>
          </p:nvPr>
        </p:nvSpPr>
        <p:spPr>
          <a:xfrm>
            <a:off x="0" y="812520"/>
            <a:ext cx="360" cy="360"/>
          </a:xfrm>
          <a:prstGeom prst="rect">
            <a:avLst/>
          </a:prstGeom>
          <a:noFill/>
          <a:ln w="0">
            <a:noFill/>
          </a:ln>
        </p:spPr>
        <p:txBody>
          <a:bodyPr lIns="0" tIns="0" rIns="0" bIns="0" anchor="ctr">
            <a:noAutofit/>
          </a:bodyPr>
          <a:p>
            <a:pPr algn="ctr" defTabSz="914400">
              <a:lnSpc>
                <a:spcPct val="90000"/>
              </a:lnSpc>
              <a:tabLst>
                <a:tab pos="0" algn="l"/>
              </a:tabLst>
            </a:pPr>
            <a:r>
              <a:rPr lang="en-US" sz="6000" b="0" u="none" strike="noStrike">
                <a:solidFill>
                  <a:schemeClr val="dk1"/>
                </a:solidFill>
                <a:effectLst/>
                <a:uFillTx/>
                <a:latin typeface="Calibri Light"/>
              </a:rPr>
              <a:t>Click to move the slide</a:t>
            </a:r>
            <a:endParaRPr lang="en-US" sz="6000" b="0" u="none" strike="noStrike">
              <a:solidFill>
                <a:schemeClr val="dk1"/>
              </a:solidFill>
              <a:effectLst/>
              <a:uFillTx/>
              <a:latin typeface="Calibri Light"/>
            </a:endParaRPr>
          </a:p>
        </p:txBody>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GB" sz="2000" b="0" u="none" strike="noStrike">
                <a:solidFill>
                  <a:srgbClr val="000000"/>
                </a:solidFill>
                <a:effectLst/>
                <a:uFillTx/>
                <a:latin typeface="Arial"/>
              </a:rPr>
              <a:t>Click to edit the notes' format</a:t>
            </a:r>
            <a:endParaRPr lang="en-GB" sz="2000" b="0" u="none" strike="noStrike">
              <a:solidFill>
                <a:srgbClr val="000000"/>
              </a:solidFill>
              <a:effectLst/>
              <a:uFillTx/>
              <a:latin typeface="Arial"/>
            </a:endParaRPr>
          </a:p>
        </p:txBody>
      </p:sp>
      <p:sp>
        <p:nvSpPr>
          <p:cNvPr id="85"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GB" sz="1400" b="0" u="none" strike="noStrike">
                <a:solidFill>
                  <a:srgbClr val="000000"/>
                </a:solidFill>
                <a:effectLst/>
                <a:uFillTx/>
                <a:latin typeface="Times New Roman"/>
              </a:rPr>
              <a:t>&lt;header&gt;</a:t>
            </a:r>
            <a:endParaRPr lang="en-GB" sz="1400" b="0" u="none" strike="noStrike">
              <a:solidFill>
                <a:srgbClr val="000000"/>
              </a:solidFill>
              <a:effectLst/>
              <a:uFillTx/>
              <a:latin typeface="Times New Roman"/>
            </a:endParaRPr>
          </a:p>
        </p:txBody>
      </p:sp>
      <p:sp>
        <p:nvSpPr>
          <p:cNvPr id="86"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87"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lgn="l">
              <a:buNone/>
              <a:defRPr lang="en-GB" sz="1400" b="0" u="none" strike="noStrike">
                <a:solidFill>
                  <a:srgbClr val="000000"/>
                </a:solidFill>
                <a:effectLst/>
                <a:uFillTx/>
                <a:latin typeface="Times New Roman"/>
              </a:defRPr>
            </a:lvl1pPr>
          </a:lstStyle>
          <a:p>
            <a:pPr indent="0" algn="l">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88"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9F30E411-D248-4A1D-BC52-A6D5004011EC}" type="slidenum">
              <a:rPr lang="en-GB" sz="1400" b="0" u="none" strike="noStrike">
                <a:solidFill>
                  <a:srgbClr val="000000"/>
                </a:solidFill>
                <a:effectLst/>
                <a:uFillTx/>
                <a:latin typeface="Times New Roman"/>
              </a:rPr>
              <a:t>&lt;number&gt;</a:t>
            </a:fld>
            <a:endParaRPr lang="en-GB"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Img"/>
          </p:nvPr>
        </p:nvSpPr>
        <p:spPr>
          <a:xfrm>
            <a:off x="380880" y="685800"/>
            <a:ext cx="6094080" cy="3427200"/>
          </a:xfrm>
          <a:prstGeom prst="rect">
            <a:avLst/>
          </a:prstGeom>
          <a:ln w="0">
            <a:noFill/>
          </a:ln>
        </p:spPr>
      </p:sp>
      <p:sp>
        <p:nvSpPr>
          <p:cNvPr id="143" name="PlaceHolder 2"/>
          <p:cNvSpPr>
            <a:spLocks noGrp="1"/>
          </p:cNvSpPr>
          <p:nvPr>
            <p:ph type="body"/>
          </p:nvPr>
        </p:nvSpPr>
        <p:spPr>
          <a:xfrm>
            <a:off x="685800" y="4343400"/>
            <a:ext cx="5484600" cy="4113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144" name="PlaceHolder 3"/>
          <p:cNvSpPr>
            <a:spLocks noGrp="1"/>
          </p:cNvSpPr>
          <p:nvPr>
            <p:ph type="sldNum" idx="46"/>
          </p:nvPr>
        </p:nvSpPr>
        <p:spPr>
          <a:xfrm>
            <a:off x="3884760" y="8685360"/>
            <a:ext cx="2970000" cy="4554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331BF5A4-FB25-4504-9A23-B2D53E97BE49}" type="slidenum">
              <a:rPr lang="en-US" sz="1200" b="0" u="none" strike="noStrike">
                <a:solidFill>
                  <a:srgbClr val="000000"/>
                </a:solidFill>
                <a:effectLst/>
                <a:uFillTx/>
                <a:latin typeface="Times New Roman"/>
              </a:rPr>
              <a:t>13</a:t>
            </a:fld>
            <a:endParaRPr lang="en-GB"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3800" cy="132372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Calibri Light"/>
            </a:endParaRPr>
          </a:p>
        </p:txBody>
      </p:sp>
      <p:sp>
        <p:nvSpPr>
          <p:cNvPr id="7" name="PlaceHolder 2"/>
          <p:cNvSpPr>
            <a:spLocks noGrp="1"/>
          </p:cNvSpPr>
          <p:nvPr>
            <p:ph/>
          </p:nvPr>
        </p:nvSpPr>
        <p:spPr>
          <a:xfrm>
            <a:off x="838080" y="1825560"/>
            <a:ext cx="10513800" cy="4349520"/>
          </a:xfrm>
          <a:prstGeom prst="rect">
            <a:avLst/>
          </a:prstGeom>
          <a:noFill/>
          <a:ln w="0">
            <a:noFill/>
          </a:ln>
        </p:spPr>
        <p:txBody>
          <a:bodyPr lIns="0" tIns="0" rIns="0" bIns="0" anchor="t">
            <a:norm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0A343FE-25F9-4A90-A0C5-2C1DBEDE6A28}" type="slidenum">
              <a:t>&lt;#&gt;</a:t>
            </a:fld>
          </a:p>
        </p:txBody>
      </p:sp>
      <p:sp>
        <p:nvSpPr>
          <p:cNvPr id="6" name="PlaceHolder 5"/>
          <p:cNvSpPr>
            <a:spLocks noGrp="1"/>
          </p:cNvSpPr>
          <p:nvPr>
            <p:ph type="dt" idx="1"/>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spTree>
      <p:nvGrpSpPr>
        <p:cNvPr id="1" name=""/>
        <p:cNvGrpSpPr/>
        <p:nvPr/>
      </p:nvGrpSpPr>
      <p:grpSpPr>
        <a:xfrm>
          <a:off x="0" y="0"/>
          <a:ext cx="0" cy="0"/>
          <a:chOff x="0" y="0"/>
          <a:chExt cx="0" cy="0"/>
        </a:xfrm>
      </p:grpSpPr>
      <p:sp>
        <p:nvSpPr>
          <p:cNvPr id="11" name="PlaceHolder 1"/>
          <p:cNvSpPr>
            <a:spLocks noGrp="1"/>
          </p:cNvSpPr>
          <p:nvPr>
            <p:ph type="title"/>
          </p:nvPr>
        </p:nvSpPr>
        <p:spPr>
          <a:xfrm>
            <a:off x="838080" y="365040"/>
            <a:ext cx="10513800" cy="132372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Calibri Light"/>
            </a:endParaRPr>
          </a:p>
        </p:txBody>
      </p:sp>
      <p:sp>
        <p:nvSpPr>
          <p:cNvPr id="12" name="PlaceHolder 2"/>
          <p:cNvSpPr>
            <a:spLocks noGrp="1"/>
          </p:cNvSpPr>
          <p:nvPr>
            <p:ph/>
          </p:nvPr>
        </p:nvSpPr>
        <p:spPr>
          <a:xfrm>
            <a:off x="838080" y="1825560"/>
            <a:ext cx="10513800" cy="4349520"/>
          </a:xfrm>
          <a:prstGeom prst="rect">
            <a:avLst/>
          </a:prstGeom>
          <a:noFill/>
          <a:ln w="0">
            <a:noFill/>
          </a:ln>
        </p:spPr>
        <p:txBody>
          <a:bodyPr lIns="0" tIns="0" rIns="0" bIns="0" anchor="t">
            <a:norm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9654EFE2-A1BD-4E7A-ABC8-7EF536E0019B}" type="slidenum">
              <a:t>&lt;#&gt;</a:t>
            </a:fld>
          </a:p>
        </p:txBody>
      </p:sp>
      <p:sp>
        <p:nvSpPr>
          <p:cNvPr id="6" name="PlaceHolder 5"/>
          <p:cNvSpPr>
            <a:spLocks noGrp="1"/>
          </p:cNvSpPr>
          <p:nvPr>
            <p:ph type="dt" idx="4"/>
          </p:nvPr>
        </p:nvSpPr>
        <p:spPr/>
        <p:txBody>
          <a:bodyPr/>
          <a:p>
            <a:r>
              <a:rPr lang="en-GB"/>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Content with Caption">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365040"/>
            <a:ext cx="10513800" cy="132372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Calibri Light"/>
            </a:endParaRPr>
          </a:p>
        </p:txBody>
      </p:sp>
      <p:sp>
        <p:nvSpPr>
          <p:cNvPr id="20" name="PlaceHolder 2"/>
          <p:cNvSpPr>
            <a:spLocks noGrp="1"/>
          </p:cNvSpPr>
          <p:nvPr>
            <p:ph/>
          </p:nvPr>
        </p:nvSpPr>
        <p:spPr>
          <a:xfrm>
            <a:off x="838080" y="1825560"/>
            <a:ext cx="10513800" cy="4349520"/>
          </a:xfrm>
          <a:prstGeom prst="rect">
            <a:avLst/>
          </a:prstGeom>
          <a:noFill/>
          <a:ln w="0">
            <a:noFill/>
          </a:ln>
        </p:spPr>
        <p:txBody>
          <a:bodyPr lIns="0" tIns="0" rIns="0" bIns="0" anchor="t">
            <a:norm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470E0393-48A7-44EF-98D9-39C949CE7D5E}" type="slidenum">
              <a:t>&lt;#&gt;</a:t>
            </a:fld>
          </a:p>
        </p:txBody>
      </p:sp>
      <p:sp>
        <p:nvSpPr>
          <p:cNvPr id="6" name="PlaceHolder 5"/>
          <p:cNvSpPr>
            <a:spLocks noGrp="1"/>
          </p:cNvSpPr>
          <p:nvPr>
            <p:ph type="dt" idx="7"/>
          </p:nvPr>
        </p:nvSpPr>
        <p:spPr/>
        <p:txBody>
          <a:bodyPr/>
          <a:p>
            <a:r>
              <a:rPr lang="en-GB"/>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icture with Caption">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3800" cy="132372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Calibri Light"/>
            </a:endParaRPr>
          </a:p>
        </p:txBody>
      </p:sp>
      <p:sp>
        <p:nvSpPr>
          <p:cNvPr id="28" name="PlaceHolder 2"/>
          <p:cNvSpPr>
            <a:spLocks noGrp="1"/>
          </p:cNvSpPr>
          <p:nvPr>
            <p:ph/>
          </p:nvPr>
        </p:nvSpPr>
        <p:spPr>
          <a:xfrm>
            <a:off x="838080" y="1825560"/>
            <a:ext cx="10513800" cy="4349520"/>
          </a:xfrm>
          <a:prstGeom prst="rect">
            <a:avLst/>
          </a:prstGeom>
          <a:noFill/>
          <a:ln w="0">
            <a:noFill/>
          </a:ln>
        </p:spPr>
        <p:txBody>
          <a:bodyPr lIns="0" tIns="0" rIns="0" bIns="0" anchor="t">
            <a:norm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7280F35-2AC1-4649-B7A9-34CF58BC4A62}" type="slidenum">
              <a:t>&lt;#&gt;</a:t>
            </a:fld>
          </a:p>
        </p:txBody>
      </p:sp>
      <p:sp>
        <p:nvSpPr>
          <p:cNvPr id="6" name="PlaceHolder 5"/>
          <p:cNvSpPr>
            <a:spLocks noGrp="1"/>
          </p:cNvSpPr>
          <p:nvPr>
            <p:ph type="dt" idx="10"/>
          </p:nvPr>
        </p:nvSpPr>
        <p:spPr/>
        <p:txBody>
          <a:bodyPr/>
          <a:p>
            <a:r>
              <a:rPr lang="en-GB"/>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3800" cy="132372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Calibri Light"/>
            </a:endParaRPr>
          </a:p>
        </p:txBody>
      </p:sp>
      <p:sp>
        <p:nvSpPr>
          <p:cNvPr id="35" name="PlaceHolder 2"/>
          <p:cNvSpPr>
            <a:spLocks noGrp="1"/>
          </p:cNvSpPr>
          <p:nvPr>
            <p:ph type="subTitle"/>
          </p:nvPr>
        </p:nvSpPr>
        <p:spPr>
          <a:xfrm>
            <a:off x="838080" y="1825560"/>
            <a:ext cx="10513800" cy="4349520"/>
          </a:xfrm>
          <a:prstGeom prst="rect">
            <a:avLst/>
          </a:prstGeom>
          <a:noFill/>
          <a:ln w="0">
            <a:noFill/>
          </a:ln>
        </p:spPr>
        <p:txBody>
          <a:bodyPr lIns="0" tIns="0" rIns="0" bIns="0" anchor="ctr">
            <a:spAutoFit/>
          </a:bodyPr>
          <a:p>
            <a:pPr indent="0" algn="ctr">
              <a:buNone/>
            </a:pPr>
            <a:endParaRPr lang="en-GB" sz="3200" b="0" u="none" strike="noStrike">
              <a:solidFill>
                <a:srgbClr val="000000"/>
              </a:solidFill>
              <a:effectLst/>
              <a:uFillTx/>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DC5B553-D619-446F-BF93-DF5A3E0F2BC6}" type="slidenum">
              <a:t>&lt;#&gt;</a:t>
            </a:fld>
          </a:p>
        </p:txBody>
      </p:sp>
      <p:sp>
        <p:nvSpPr>
          <p:cNvPr id="6" name="PlaceHolder 5"/>
          <p:cNvSpPr>
            <a:spLocks noGrp="1"/>
          </p:cNvSpPr>
          <p:nvPr>
            <p:ph type="dt" idx="13"/>
          </p:nvPr>
        </p:nvSpPr>
        <p:spPr/>
        <p:txBody>
          <a:bodyPr/>
          <a:p>
            <a:r>
              <a:rPr lang="en-GB"/>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36" name="PlaceHolder 1"/>
          <p:cNvSpPr>
            <a:spLocks noGrp="1"/>
          </p:cNvSpPr>
          <p:nvPr>
            <p:ph type="title"/>
          </p:nvPr>
        </p:nvSpPr>
        <p:spPr>
          <a:xfrm>
            <a:off x="838080" y="365040"/>
            <a:ext cx="10513800" cy="132372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Calibri Light"/>
            </a:endParaRPr>
          </a:p>
        </p:txBody>
      </p:sp>
      <p:sp>
        <p:nvSpPr>
          <p:cNvPr id="37" name="PlaceHolder 2"/>
          <p:cNvSpPr>
            <a:spLocks noGrp="1"/>
          </p:cNvSpPr>
          <p:nvPr>
            <p:ph/>
          </p:nvPr>
        </p:nvSpPr>
        <p:spPr>
          <a:xfrm>
            <a:off x="838080" y="1825560"/>
            <a:ext cx="10513800" cy="4349520"/>
          </a:xfrm>
          <a:prstGeom prst="rect">
            <a:avLst/>
          </a:prstGeom>
          <a:noFill/>
          <a:ln w="0">
            <a:noFill/>
          </a:ln>
        </p:spPr>
        <p:txBody>
          <a:bodyPr lIns="0" tIns="0" rIns="0" bIns="0" anchor="t">
            <a:norm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1326F39D-58CB-43FB-978B-36BE0EA9951B}" type="slidenum">
              <a:t>&lt;#&gt;</a:t>
            </a:fld>
          </a:p>
        </p:txBody>
      </p:sp>
      <p:sp>
        <p:nvSpPr>
          <p:cNvPr id="6" name="PlaceHolder 5"/>
          <p:cNvSpPr>
            <a:spLocks noGrp="1"/>
          </p:cNvSpPr>
          <p:nvPr>
            <p:ph type="dt" idx="13"/>
          </p:nvPr>
        </p:nvSpPr>
        <p:spPr/>
        <p:txBody>
          <a:bodyPr/>
          <a:p>
            <a:r>
              <a:rPr lang="en-GB"/>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Vertical Text">
    <p:spTree>
      <p:nvGrpSpPr>
        <p:cNvPr id="1" name=""/>
        <p:cNvGrpSpPr/>
        <p:nvPr/>
      </p:nvGrpSpPr>
      <p:grpSpPr>
        <a:xfrm>
          <a:off x="0" y="0"/>
          <a:ext cx="0" cy="0"/>
          <a:chOff x="0" y="0"/>
          <a:chExt cx="0" cy="0"/>
        </a:xfrm>
      </p:grpSpPr>
      <p:sp>
        <p:nvSpPr>
          <p:cNvPr id="43" name="PlaceHolder 1"/>
          <p:cNvSpPr>
            <a:spLocks noGrp="1"/>
          </p:cNvSpPr>
          <p:nvPr>
            <p:ph type="title"/>
          </p:nvPr>
        </p:nvSpPr>
        <p:spPr>
          <a:xfrm>
            <a:off x="838080" y="365040"/>
            <a:ext cx="10513800" cy="132372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Calibri Light"/>
            </a:endParaRPr>
          </a:p>
        </p:txBody>
      </p:sp>
      <p:sp>
        <p:nvSpPr>
          <p:cNvPr id="44" name="PlaceHolder 2"/>
          <p:cNvSpPr>
            <a:spLocks noGrp="1"/>
          </p:cNvSpPr>
          <p:nvPr>
            <p:ph/>
          </p:nvPr>
        </p:nvSpPr>
        <p:spPr>
          <a:xfrm>
            <a:off x="838080" y="1825560"/>
            <a:ext cx="10513800" cy="4349520"/>
          </a:xfrm>
          <a:prstGeom prst="rect">
            <a:avLst/>
          </a:prstGeom>
          <a:noFill/>
          <a:ln w="0">
            <a:noFill/>
          </a:ln>
        </p:spPr>
        <p:txBody>
          <a:bodyPr lIns="0" tIns="0" rIns="0" bIns="0" anchor="t">
            <a:norm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0D41627E-1352-4360-9AD2-E8C364CAD79F}" type="slidenum">
              <a:t>&lt;#&gt;</a:t>
            </a:fld>
          </a:p>
        </p:txBody>
      </p:sp>
      <p:sp>
        <p:nvSpPr>
          <p:cNvPr id="6" name="PlaceHolder 5"/>
          <p:cNvSpPr>
            <a:spLocks noGrp="1"/>
          </p:cNvSpPr>
          <p:nvPr>
            <p:ph type="dt" idx="16"/>
          </p:nvPr>
        </p:nvSpPr>
        <p:spPr/>
        <p:txBody>
          <a:bodyPr/>
          <a:p>
            <a:r>
              <a:rPr lang="en-GB"/>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 Title and Tex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3800" cy="132372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Calibri Light"/>
            </a:endParaRPr>
          </a:p>
        </p:txBody>
      </p:sp>
      <p:sp>
        <p:nvSpPr>
          <p:cNvPr id="51" name="PlaceHolder 2"/>
          <p:cNvSpPr>
            <a:spLocks noGrp="1"/>
          </p:cNvSpPr>
          <p:nvPr>
            <p:ph/>
          </p:nvPr>
        </p:nvSpPr>
        <p:spPr>
          <a:xfrm>
            <a:off x="838080" y="1825560"/>
            <a:ext cx="10513800" cy="4349520"/>
          </a:xfrm>
          <a:prstGeom prst="rect">
            <a:avLst/>
          </a:prstGeom>
          <a:noFill/>
          <a:ln w="0">
            <a:noFill/>
          </a:ln>
        </p:spPr>
        <p:txBody>
          <a:bodyPr lIns="0" tIns="0" rIns="0" bIns="0" anchor="t">
            <a:norm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11F58A68-0C87-4C7E-9519-DE6F0B965480}" type="slidenum">
              <a:t>&lt;#&gt;</a:t>
            </a:fld>
          </a:p>
        </p:txBody>
      </p:sp>
      <p:sp>
        <p:nvSpPr>
          <p:cNvPr id="6" name="PlaceHolder 5"/>
          <p:cNvSpPr>
            <a:spLocks noGrp="1"/>
          </p:cNvSpPr>
          <p:nvPr>
            <p:ph type="dt" idx="19"/>
          </p:nvPr>
        </p:nvSpPr>
        <p:spPr/>
        <p:txBody>
          <a:bodyPr/>
          <a:p>
            <a:r>
              <a:rPr lang="en-GB"/>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838080" y="365040"/>
            <a:ext cx="10513800" cy="132372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Calibri Light"/>
            </a:endParaRPr>
          </a:p>
        </p:txBody>
      </p:sp>
      <p:sp>
        <p:nvSpPr>
          <p:cNvPr id="58" name="PlaceHolder 2"/>
          <p:cNvSpPr>
            <a:spLocks noGrp="1"/>
          </p:cNvSpPr>
          <p:nvPr>
            <p:ph/>
          </p:nvPr>
        </p:nvSpPr>
        <p:spPr>
          <a:xfrm>
            <a:off x="838080" y="1825560"/>
            <a:ext cx="10513800" cy="4349520"/>
          </a:xfrm>
          <a:prstGeom prst="rect">
            <a:avLst/>
          </a:prstGeom>
          <a:noFill/>
          <a:ln w="0">
            <a:noFill/>
          </a:ln>
        </p:spPr>
        <p:txBody>
          <a:bodyPr lIns="0" tIns="0" rIns="0" bIns="0" anchor="t">
            <a:norm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4" name="PlaceHolder 3"/>
          <p:cNvSpPr>
            <a:spLocks noGrp="1"/>
          </p:cNvSpPr>
          <p:nvPr>
            <p:ph type="ftr" idx="23"/>
          </p:nvPr>
        </p:nvSpPr>
        <p:spPr/>
        <p:txBody>
          <a:bodyPr/>
          <a:p>
            <a:r>
              <a:t>Footer</a:t>
            </a:r>
          </a:p>
        </p:txBody>
      </p:sp>
      <p:sp>
        <p:nvSpPr>
          <p:cNvPr id="5" name="PlaceHolder 4"/>
          <p:cNvSpPr>
            <a:spLocks noGrp="1"/>
          </p:cNvSpPr>
          <p:nvPr>
            <p:ph type="sldNum" idx="24"/>
          </p:nvPr>
        </p:nvSpPr>
        <p:spPr/>
        <p:txBody>
          <a:bodyPr/>
          <a:p>
            <a:fld id="{5F62EE03-2A99-490E-B6AB-451BA40EAC40}" type="slidenum">
              <a:t>&lt;#&gt;</a:t>
            </a:fld>
          </a:p>
        </p:txBody>
      </p:sp>
      <p:sp>
        <p:nvSpPr>
          <p:cNvPr id="6" name="PlaceHolder 5"/>
          <p:cNvSpPr>
            <a:spLocks noGrp="1"/>
          </p:cNvSpPr>
          <p:nvPr>
            <p:ph type="dt" idx="22"/>
          </p:nvPr>
        </p:nvSpPr>
        <p:spPr/>
        <p:txBody>
          <a:bodyPr/>
          <a:p>
            <a:r>
              <a:rPr lang="en-GB"/>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A01896F4-A413-42FD-8A55-F960CAC05534}" type="slidenum">
              <a:t>&lt;#&gt;</a:t>
            </a:fld>
          </a:p>
        </p:txBody>
      </p:sp>
      <p:sp>
        <p:nvSpPr>
          <p:cNvPr id="4" name="PlaceHolder 3"/>
          <p:cNvSpPr>
            <a:spLocks noGrp="1"/>
          </p:cNvSpPr>
          <p:nvPr>
            <p:ph type="dt" idx="25"/>
          </p:nvPr>
        </p:nvSpPr>
        <p:spPr/>
        <p:txBody>
          <a:bodyPr/>
          <a:p>
            <a:r>
              <a:rPr lang="en-GB"/>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Relationship Id="rId3" Type="http://schemas.openxmlformats.org/officeDocument/2006/relationships/slideLayout" Target="../slideLayouts/slideLayout6.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7.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8.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9.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0.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3800" cy="13237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3" name="PlaceHolder 2"/>
          <p:cNvSpPr>
            <a:spLocks noGrp="1"/>
          </p:cNvSpPr>
          <p:nvPr>
            <p:ph type="dt" idx="1"/>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GB" sz="12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41039290-922E-4052-A219-5DC17599CE7B}"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dt" idx="4"/>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9" name="PlaceHolder 2"/>
          <p:cNvSpPr>
            <a:spLocks noGrp="1"/>
          </p:cNvSpPr>
          <p:nvPr>
            <p:ph type="ftr" idx="5"/>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GB" sz="1200" b="0" u="none" strike="noStrike">
              <a:solidFill>
                <a:srgbClr val="000000"/>
              </a:solidFill>
              <a:effectLst/>
              <a:uFillTx/>
              <a:latin typeface="Times New Roman"/>
            </a:endParaRPr>
          </a:p>
        </p:txBody>
      </p:sp>
      <p:sp>
        <p:nvSpPr>
          <p:cNvPr id="10" name="PlaceHolder 3"/>
          <p:cNvSpPr>
            <a:spLocks noGrp="1"/>
          </p:cNvSpPr>
          <p:nvPr>
            <p:ph type="sldNum" idx="6"/>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1917B245-E8E1-4E93-BBE6-3055CBF7C6B7}"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9880" y="457200"/>
            <a:ext cx="3930480" cy="159840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Calibri Light"/>
              </a:defRPr>
            </a:lvl1pPr>
          </a:lstStyle>
          <a:p>
            <a:pPr indent="0" algn="l" defTabSz="914400">
              <a:lnSpc>
                <a:spcPct val="90000"/>
              </a:lnSpc>
              <a:buNone/>
              <a:tabLst>
                <a:tab pos="0" algn="l"/>
              </a:tabLst>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14" name="PlaceHolder 2"/>
          <p:cNvSpPr>
            <a:spLocks noGrp="1"/>
          </p:cNvSpPr>
          <p:nvPr>
            <p:ph type="body"/>
          </p:nvPr>
        </p:nvSpPr>
        <p:spPr>
          <a:xfrm>
            <a:off x="5183280" y="987480"/>
            <a:ext cx="6170400" cy="4871880"/>
          </a:xfrm>
          <a:prstGeom prst="rect">
            <a:avLst/>
          </a:prstGeom>
          <a:noFill/>
          <a:ln w="0">
            <a:noFill/>
          </a:ln>
        </p:spPr>
        <p:txBody>
          <a:bodyPr lIns="91440" tIns="45720" rIns="91440" bIns="45720" anchor="t">
            <a:noAutofit/>
          </a:bodyPr>
          <a:lstStyle>
            <a:lvl1pPr indent="0" algn="l" defTabSz="914400">
              <a:lnSpc>
                <a:spcPct val="90000"/>
              </a:lnSpc>
              <a:spcBef>
                <a:spcPts val="1001"/>
              </a:spcBef>
              <a:defRPr lang="en-US" sz="32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5pPr>
          </a:lstStyle>
          <a:p>
            <a:pPr indent="0" algn="l" defTabSz="914400">
              <a:lnSpc>
                <a:spcPct val="90000"/>
              </a:lnSpc>
              <a:spcBef>
                <a:spcPts val="1001"/>
              </a:spcBef>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5" name="PlaceHolder 3"/>
          <p:cNvSpPr>
            <a:spLocks noGrp="1"/>
          </p:cNvSpPr>
          <p:nvPr>
            <p:ph type="body"/>
          </p:nvPr>
        </p:nvSpPr>
        <p:spPr>
          <a:xfrm>
            <a:off x="839880" y="2057400"/>
            <a:ext cx="3930480" cy="380988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16" name="PlaceHolder 4"/>
          <p:cNvSpPr>
            <a:spLocks noGrp="1"/>
          </p:cNvSpPr>
          <p:nvPr>
            <p:ph type="dt" idx="7"/>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17" name="PlaceHolder 5"/>
          <p:cNvSpPr>
            <a:spLocks noGrp="1"/>
          </p:cNvSpPr>
          <p:nvPr>
            <p:ph type="ftr" idx="8"/>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GB" sz="1200" b="0" u="none" strike="noStrike">
              <a:solidFill>
                <a:srgbClr val="000000"/>
              </a:solidFill>
              <a:effectLst/>
              <a:uFillTx/>
              <a:latin typeface="Times New Roman"/>
            </a:endParaRPr>
          </a:p>
        </p:txBody>
      </p:sp>
      <p:sp>
        <p:nvSpPr>
          <p:cNvPr id="18" name="PlaceHolder 6"/>
          <p:cNvSpPr>
            <a:spLocks noGrp="1"/>
          </p:cNvSpPr>
          <p:nvPr>
            <p:ph type="sldNum" idx="9"/>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52DB717-84AD-4C83-845B-AC59E1394D9E}"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9880" y="457200"/>
            <a:ext cx="3930480" cy="159840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Calibri Light"/>
              </a:defRPr>
            </a:lvl1pPr>
          </a:lstStyle>
          <a:p>
            <a:pPr indent="0" algn="l" defTabSz="914400">
              <a:lnSpc>
                <a:spcPct val="90000"/>
              </a:lnSpc>
              <a:buNone/>
              <a:tabLst>
                <a:tab pos="0" algn="l"/>
              </a:tabLst>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22" name="PlaceHolder 2"/>
          <p:cNvSpPr>
            <a:spLocks noGrp="1"/>
          </p:cNvSpPr>
          <p:nvPr>
            <p:ph type="body"/>
          </p:nvPr>
        </p:nvSpPr>
        <p:spPr>
          <a:xfrm>
            <a:off x="5183280" y="987480"/>
            <a:ext cx="6170400" cy="4871880"/>
          </a:xfrm>
          <a:prstGeom prst="rect">
            <a:avLst/>
          </a:prstGeom>
          <a:noFill/>
          <a:ln w="0">
            <a:noFill/>
          </a:ln>
        </p:spPr>
        <p:txBody>
          <a:bodyPr lIns="90000" tIns="45000" rIns="90000" bIns="45000" anchor="t">
            <a:noAutofit/>
          </a:bodyPr>
          <a:lstStyle>
            <a:lvl1pPr indent="0" algn="l" defTabSz="914400">
              <a:lnSpc>
                <a:spcPct val="90000"/>
              </a:lnSpc>
              <a:spcBef>
                <a:spcPts val="1001"/>
              </a:spcBef>
              <a:tabLst>
                <a:tab pos="0" algn="l"/>
              </a:tabLst>
              <a:defRPr lang="en-US" sz="32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tabLst>
                <a:tab pos="0" algn="l"/>
              </a:tabLst>
              <a:defRPr lang="en-US" sz="32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Calibri"/>
              </a:defRPr>
            </a:lvl7pPr>
          </a:lstStyle>
          <a:p>
            <a:pPr indent="0" algn="l" defTabSz="914400">
              <a:lnSpc>
                <a:spcPct val="90000"/>
              </a:lnSpc>
              <a:spcBef>
                <a:spcPts val="1001"/>
              </a:spcBef>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tabLst>
                <a:tab pos="0" algn="l"/>
              </a:tabLst>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23" name="PlaceHolder 3"/>
          <p:cNvSpPr>
            <a:spLocks noGrp="1"/>
          </p:cNvSpPr>
          <p:nvPr>
            <p:ph type="body"/>
          </p:nvPr>
        </p:nvSpPr>
        <p:spPr>
          <a:xfrm>
            <a:off x="839880" y="2057400"/>
            <a:ext cx="3930480" cy="380988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24" name="PlaceHolder 4"/>
          <p:cNvSpPr>
            <a:spLocks noGrp="1"/>
          </p:cNvSpPr>
          <p:nvPr>
            <p:ph type="dt" idx="10"/>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25" name="PlaceHolder 5"/>
          <p:cNvSpPr>
            <a:spLocks noGrp="1"/>
          </p:cNvSpPr>
          <p:nvPr>
            <p:ph type="ftr" idx="11"/>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GB" sz="1200" b="0" u="none" strike="noStrike">
              <a:solidFill>
                <a:srgbClr val="000000"/>
              </a:solidFill>
              <a:effectLst/>
              <a:uFillTx/>
              <a:latin typeface="Times New Roman"/>
            </a:endParaRPr>
          </a:p>
        </p:txBody>
      </p:sp>
      <p:sp>
        <p:nvSpPr>
          <p:cNvPr id="26" name="PlaceHolder 6"/>
          <p:cNvSpPr>
            <a:spLocks noGrp="1"/>
          </p:cNvSpPr>
          <p:nvPr>
            <p:ph type="sldNum" idx="12"/>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A35D116-9C1B-4FFF-9D75-A2D85AF6CD22}"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42200" cy="238572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n-US" sz="6000" b="0" u="none" strike="noStrike">
                <a:solidFill>
                  <a:schemeClr val="dk1"/>
                </a:solidFill>
                <a:effectLst/>
                <a:uFillTx/>
                <a:latin typeface="Calibri Light"/>
              </a:defRPr>
            </a:lvl1pPr>
          </a:lstStyle>
          <a:p>
            <a:pPr indent="0" algn="ctr" defTabSz="914400">
              <a:lnSpc>
                <a:spcPct val="90000"/>
              </a:lnSpc>
              <a:buNone/>
              <a:tabLst>
                <a:tab pos="0" algn="l"/>
              </a:tabLst>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Light"/>
            </a:endParaRPr>
          </a:p>
        </p:txBody>
      </p:sp>
      <p:sp>
        <p:nvSpPr>
          <p:cNvPr id="30" name="PlaceHolder 2"/>
          <p:cNvSpPr>
            <a:spLocks noGrp="1"/>
          </p:cNvSpPr>
          <p:nvPr>
            <p:ph type="dt" idx="13"/>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31" name="PlaceHolder 3"/>
          <p:cNvSpPr>
            <a:spLocks noGrp="1"/>
          </p:cNvSpPr>
          <p:nvPr>
            <p:ph type="ftr" idx="14"/>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GB" sz="1200" b="0" u="none" strike="noStrike">
              <a:solidFill>
                <a:srgbClr val="000000"/>
              </a:solidFill>
              <a:effectLst/>
              <a:uFillTx/>
              <a:latin typeface="Times New Roman"/>
            </a:endParaRPr>
          </a:p>
        </p:txBody>
      </p:sp>
      <p:sp>
        <p:nvSpPr>
          <p:cNvPr id="32" name="PlaceHolder 4"/>
          <p:cNvSpPr>
            <a:spLocks noGrp="1"/>
          </p:cNvSpPr>
          <p:nvPr>
            <p:ph type="sldNum" idx="15"/>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AAC5B535-67CA-451B-9DC1-13C8BFD218E4}"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
        <p:nvSpPr>
          <p:cNvPr id="33" name="PlaceHolder 5"/>
          <p:cNvSpPr>
            <a:spLocks noGrp="1"/>
          </p:cNvSpPr>
          <p:nvPr>
            <p:ph type="body"/>
          </p:nvPr>
        </p:nvSpPr>
        <p:spPr>
          <a:xfrm>
            <a:off x="609480" y="1604520"/>
            <a:ext cx="10971000" cy="397584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the outline text format</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Outline Level</a:t>
            </a:r>
            <a:endParaRPr lang="en-US" sz="1800" b="0" u="none" strike="noStrike">
              <a:solidFill>
                <a:schemeClr val="dk1"/>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7" r:id="rId2"/>
    <p:sldLayoutId id="2147483658"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8080" y="365040"/>
            <a:ext cx="10513800" cy="13237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39" name="PlaceHolder 2"/>
          <p:cNvSpPr>
            <a:spLocks noGrp="1"/>
          </p:cNvSpPr>
          <p:nvPr>
            <p:ph type="body"/>
          </p:nvPr>
        </p:nvSpPr>
        <p:spPr>
          <a:xfrm>
            <a:off x="838080" y="1825560"/>
            <a:ext cx="10513800" cy="434952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stStyle>
          <a:p>
            <a:pPr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0" name="PlaceHolder 3"/>
          <p:cNvSpPr>
            <a:spLocks noGrp="1"/>
          </p:cNvSpPr>
          <p:nvPr>
            <p:ph type="dt" idx="16"/>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1" name="PlaceHolder 4"/>
          <p:cNvSpPr>
            <a:spLocks noGrp="1"/>
          </p:cNvSpPr>
          <p:nvPr>
            <p:ph type="ftr" idx="17"/>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GB" sz="1200" b="0" u="none" strike="noStrike">
              <a:solidFill>
                <a:srgbClr val="000000"/>
              </a:solidFill>
              <a:effectLst/>
              <a:uFillTx/>
              <a:latin typeface="Times New Roman"/>
            </a:endParaRPr>
          </a:p>
        </p:txBody>
      </p:sp>
      <p:sp>
        <p:nvSpPr>
          <p:cNvPr id="42" name="PlaceHolder 5"/>
          <p:cNvSpPr>
            <a:spLocks noGrp="1"/>
          </p:cNvSpPr>
          <p:nvPr>
            <p:ph type="sldNum" idx="18"/>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5BD1C9C-99FE-47F4-ADC8-1423561B9C95}"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0"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8724960" y="365040"/>
            <a:ext cx="2627280" cy="5810040"/>
          </a:xfrm>
          <a:prstGeom prst="rect">
            <a:avLst/>
          </a:prstGeom>
          <a:noFill/>
          <a:ln w="0">
            <a:noFill/>
          </a:ln>
        </p:spPr>
        <p:txBody>
          <a:bodyPr lIns="91440" tIns="45720" rIns="91440" bIns="45720" anchor="t" anchorCtr="1" vert="eaVert">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46" name="PlaceHolder 2"/>
          <p:cNvSpPr>
            <a:spLocks noGrp="1"/>
          </p:cNvSpPr>
          <p:nvPr>
            <p:ph type="body"/>
          </p:nvPr>
        </p:nvSpPr>
        <p:spPr>
          <a:xfrm>
            <a:off x="838080" y="365040"/>
            <a:ext cx="7732440" cy="581004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stStyle>
          <a:p>
            <a:pPr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7" name="PlaceHolder 3"/>
          <p:cNvSpPr>
            <a:spLocks noGrp="1"/>
          </p:cNvSpPr>
          <p:nvPr>
            <p:ph type="dt" idx="19"/>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48" name="PlaceHolder 4"/>
          <p:cNvSpPr>
            <a:spLocks noGrp="1"/>
          </p:cNvSpPr>
          <p:nvPr>
            <p:ph type="ftr" idx="20"/>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GB" sz="1200" b="0" u="none" strike="noStrike">
              <a:solidFill>
                <a:srgbClr val="000000"/>
              </a:solidFill>
              <a:effectLst/>
              <a:uFillTx/>
              <a:latin typeface="Times New Roman"/>
            </a:endParaRPr>
          </a:p>
        </p:txBody>
      </p:sp>
      <p:sp>
        <p:nvSpPr>
          <p:cNvPr id="49" name="PlaceHolder 5"/>
          <p:cNvSpPr>
            <a:spLocks noGrp="1"/>
          </p:cNvSpPr>
          <p:nvPr>
            <p:ph type="sldNum" idx="21"/>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78F13F2F-B731-4AF3-9FE4-71A8D082F2FF}"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2"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38080" y="365040"/>
            <a:ext cx="10513800" cy="13237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53" name="PlaceHolder 2"/>
          <p:cNvSpPr>
            <a:spLocks noGrp="1"/>
          </p:cNvSpPr>
          <p:nvPr>
            <p:ph type="body"/>
          </p:nvPr>
        </p:nvSpPr>
        <p:spPr>
          <a:xfrm>
            <a:off x="838080" y="1825560"/>
            <a:ext cx="10513800" cy="43495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stStyle>
          <a:p>
            <a:pPr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54" name="PlaceHolder 3"/>
          <p:cNvSpPr>
            <a:spLocks noGrp="1"/>
          </p:cNvSpPr>
          <p:nvPr>
            <p:ph type="dt" idx="22"/>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55" name="PlaceHolder 4"/>
          <p:cNvSpPr>
            <a:spLocks noGrp="1"/>
          </p:cNvSpPr>
          <p:nvPr>
            <p:ph type="ftr" idx="23"/>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GB" sz="1200" b="0" u="none" strike="noStrike">
              <a:solidFill>
                <a:srgbClr val="000000"/>
              </a:solidFill>
              <a:effectLst/>
              <a:uFillTx/>
              <a:latin typeface="Times New Roman"/>
            </a:endParaRPr>
          </a:p>
        </p:txBody>
      </p:sp>
      <p:sp>
        <p:nvSpPr>
          <p:cNvPr id="56" name="PlaceHolder 5"/>
          <p:cNvSpPr>
            <a:spLocks noGrp="1"/>
          </p:cNvSpPr>
          <p:nvPr>
            <p:ph type="sldNum" idx="24"/>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8FEB906-46C3-4DEC-88D7-35A655596200}"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4"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3800" cy="13237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60" name="PlaceHolder 2"/>
          <p:cNvSpPr>
            <a:spLocks noGrp="1"/>
          </p:cNvSpPr>
          <p:nvPr>
            <p:ph type="body"/>
          </p:nvPr>
        </p:nvSpPr>
        <p:spPr>
          <a:xfrm>
            <a:off x="838080" y="1825560"/>
            <a:ext cx="10513800" cy="43495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stStyle>
          <a:p>
            <a:pPr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61" name="PlaceHolder 3"/>
          <p:cNvSpPr>
            <a:spLocks noGrp="1"/>
          </p:cNvSpPr>
          <p:nvPr>
            <p:ph type="dt" idx="25"/>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62" name="PlaceHolder 4"/>
          <p:cNvSpPr>
            <a:spLocks noGrp="1"/>
          </p:cNvSpPr>
          <p:nvPr>
            <p:ph type="ftr" idx="26"/>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GB" sz="1200" b="0" u="none" strike="noStrike">
              <a:solidFill>
                <a:srgbClr val="000000"/>
              </a:solidFill>
              <a:effectLst/>
              <a:uFillTx/>
              <a:latin typeface="Times New Roman"/>
            </a:endParaRPr>
          </a:p>
        </p:txBody>
      </p:sp>
      <p:sp>
        <p:nvSpPr>
          <p:cNvPr id="63" name="PlaceHolder 5"/>
          <p:cNvSpPr>
            <a:spLocks noGrp="1"/>
          </p:cNvSpPr>
          <p:nvPr>
            <p:ph type="sldNum" idx="27"/>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455E5A89-EA2A-4EB1-A278-542688076F34}"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6"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831960" y="1709640"/>
            <a:ext cx="10513800" cy="285084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6000" b="0" u="none" strike="noStrike">
                <a:solidFill>
                  <a:schemeClr val="dk1"/>
                </a:solidFill>
                <a:effectLst/>
                <a:uFillTx/>
                <a:latin typeface="Calibri Light"/>
              </a:defRPr>
            </a:lvl1pPr>
          </a:lstStyle>
          <a:p>
            <a:pPr indent="0" algn="l" defTabSz="914400">
              <a:lnSpc>
                <a:spcPct val="90000"/>
              </a:lnSpc>
              <a:buNone/>
              <a:tabLst>
                <a:tab pos="0" algn="l"/>
              </a:tabLst>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Light"/>
            </a:endParaRPr>
          </a:p>
        </p:txBody>
      </p:sp>
      <p:sp>
        <p:nvSpPr>
          <p:cNvPr id="65" name="PlaceHolder 2"/>
          <p:cNvSpPr>
            <a:spLocks noGrp="1"/>
          </p:cNvSpPr>
          <p:nvPr>
            <p:ph type="body"/>
          </p:nvPr>
        </p:nvSpPr>
        <p:spPr>
          <a:xfrm>
            <a:off x="831960" y="4589640"/>
            <a:ext cx="10513800" cy="1498320"/>
          </a:xfrm>
          <a:prstGeom prst="rect">
            <a:avLst/>
          </a:prstGeom>
          <a:noFill/>
          <a:ln w="0">
            <a:noFill/>
          </a:ln>
        </p:spPr>
        <p:txBody>
          <a:bodyPr lIns="91440" tIns="45720" rIns="91440" bIns="45720" anchor="t">
            <a:noAutofit/>
          </a:bodyPr>
          <a:lstStyle>
            <a:lvl1pPr indent="0" algn="l" defTabSz="914400">
              <a:lnSpc>
                <a:spcPct val="90000"/>
              </a:lnSpc>
              <a:spcBef>
                <a:spcPts val="1001"/>
              </a:spcBef>
              <a:tabLst>
                <a:tab pos="0" algn="l"/>
              </a:tabLst>
              <a:defRPr lang="en-US" sz="2400" b="0" u="none" strike="noStrike">
                <a:solidFill>
                  <a:schemeClr val="dk1">
                    <a:tint val="75000"/>
                  </a:schemeClr>
                </a:solidFill>
                <a:effectLst/>
                <a:uFillTx/>
                <a:latin typeface="Calibri"/>
              </a:defRPr>
            </a:lvl1pPr>
          </a:lstStyle>
          <a:p>
            <a:pPr indent="0" algn="l" defTabSz="914400">
              <a:lnSpc>
                <a:spcPct val="90000"/>
              </a:lnSpc>
              <a:spcBef>
                <a:spcPts val="1001"/>
              </a:spcBef>
              <a:tabLst>
                <a:tab pos="0" algn="l"/>
              </a:tabLst>
            </a:pPr>
            <a:r>
              <a:rPr lang="en-US" sz="2400" b="0" u="none" strike="noStrike">
                <a:solidFill>
                  <a:schemeClr val="dk1">
                    <a:tint val="75000"/>
                  </a:schemeClr>
                </a:solidFill>
                <a:effectLst/>
                <a:uFillTx/>
                <a:latin typeface="Calibri"/>
              </a:rPr>
              <a:t>Click to edit Master text styles</a:t>
            </a:r>
            <a:endParaRPr lang="en-US" sz="2400" b="0" u="none" strike="noStrike">
              <a:solidFill>
                <a:schemeClr val="dk1">
                  <a:tint val="75000"/>
                </a:schemeClr>
              </a:solidFill>
              <a:effectLst/>
              <a:uFillTx/>
              <a:latin typeface="Calibri"/>
            </a:endParaRPr>
          </a:p>
        </p:txBody>
      </p:sp>
      <p:sp>
        <p:nvSpPr>
          <p:cNvPr id="66" name="PlaceHolder 3"/>
          <p:cNvSpPr>
            <a:spLocks noGrp="1"/>
          </p:cNvSpPr>
          <p:nvPr>
            <p:ph type="dt" idx="28"/>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67" name="PlaceHolder 4"/>
          <p:cNvSpPr>
            <a:spLocks noGrp="1"/>
          </p:cNvSpPr>
          <p:nvPr>
            <p:ph type="ftr" idx="29"/>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GB" sz="1200" b="0" u="none" strike="noStrike">
              <a:solidFill>
                <a:srgbClr val="000000"/>
              </a:solidFill>
              <a:effectLst/>
              <a:uFillTx/>
              <a:latin typeface="Times New Roman"/>
            </a:endParaRPr>
          </a:p>
        </p:txBody>
      </p:sp>
      <p:sp>
        <p:nvSpPr>
          <p:cNvPr id="68" name="PlaceHolder 5"/>
          <p:cNvSpPr>
            <a:spLocks noGrp="1"/>
          </p:cNvSpPr>
          <p:nvPr>
            <p:ph type="sldNum" idx="30"/>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43C27BDE-B0FF-499D-9F03-9EEB8F3618DD}"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838080" y="365040"/>
            <a:ext cx="10513800" cy="13237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70" name="PlaceHolder 2"/>
          <p:cNvSpPr>
            <a:spLocks noGrp="1"/>
          </p:cNvSpPr>
          <p:nvPr>
            <p:ph type="body"/>
          </p:nvPr>
        </p:nvSpPr>
        <p:spPr>
          <a:xfrm>
            <a:off x="838080" y="1825560"/>
            <a:ext cx="5179680" cy="43495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stStyle>
          <a:p>
            <a:pPr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71" name="PlaceHolder 3"/>
          <p:cNvSpPr>
            <a:spLocks noGrp="1"/>
          </p:cNvSpPr>
          <p:nvPr>
            <p:ph type="body"/>
          </p:nvPr>
        </p:nvSpPr>
        <p:spPr>
          <a:xfrm>
            <a:off x="6172200" y="1825560"/>
            <a:ext cx="5179680" cy="43495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72" name="PlaceHolder 4"/>
          <p:cNvSpPr>
            <a:spLocks noGrp="1"/>
          </p:cNvSpPr>
          <p:nvPr>
            <p:ph type="dt" idx="31"/>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73" name="PlaceHolder 5"/>
          <p:cNvSpPr>
            <a:spLocks noGrp="1"/>
          </p:cNvSpPr>
          <p:nvPr>
            <p:ph type="ftr" idx="32"/>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GB" sz="1200" b="0" u="none" strike="noStrike">
              <a:solidFill>
                <a:srgbClr val="000000"/>
              </a:solidFill>
              <a:effectLst/>
              <a:uFillTx/>
              <a:latin typeface="Times New Roman"/>
            </a:endParaRPr>
          </a:p>
        </p:txBody>
      </p:sp>
      <p:sp>
        <p:nvSpPr>
          <p:cNvPr id="74" name="PlaceHolder 6"/>
          <p:cNvSpPr>
            <a:spLocks noGrp="1"/>
          </p:cNvSpPr>
          <p:nvPr>
            <p:ph type="sldNum" idx="33"/>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7F48DDE-05BD-45AD-A64C-347FF82D83E3}"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 name="PlaceHolder 1"/>
          <p:cNvSpPr>
            <a:spLocks noGrp="1"/>
          </p:cNvSpPr>
          <p:nvPr>
            <p:ph type="title"/>
          </p:nvPr>
        </p:nvSpPr>
        <p:spPr>
          <a:xfrm>
            <a:off x="839880" y="365040"/>
            <a:ext cx="10513800" cy="13237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Calibri Light"/>
              </a:defRPr>
            </a:lvl1pPr>
          </a:lstStyle>
          <a:p>
            <a:pPr indent="0" algn="l" defTabSz="914400">
              <a:lnSpc>
                <a:spcPct val="90000"/>
              </a:lnSpc>
              <a:buNone/>
              <a:tabLst>
                <a:tab pos="0" algn="l"/>
              </a:tabLst>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76" name="PlaceHolder 2"/>
          <p:cNvSpPr>
            <a:spLocks noGrp="1"/>
          </p:cNvSpPr>
          <p:nvPr>
            <p:ph type="body"/>
          </p:nvPr>
        </p:nvSpPr>
        <p:spPr>
          <a:xfrm>
            <a:off x="839880" y="1681200"/>
            <a:ext cx="5155920" cy="822240"/>
          </a:xfrm>
          <a:prstGeom prst="rect">
            <a:avLst/>
          </a:prstGeom>
          <a:noFill/>
          <a:ln w="0">
            <a:noFill/>
          </a:ln>
        </p:spPr>
        <p:txBody>
          <a:bodyPr lIns="91440" tIns="45720" rIns="91440" bIns="45720" anchor="b">
            <a:noAutofit/>
          </a:bodyPr>
          <a:lstStyle>
            <a:lvl1pPr algn="l" defTabSz="914400">
              <a:lnSpc>
                <a:spcPct val="90000"/>
              </a:lnSpc>
              <a:spcBef>
                <a:spcPts val="1001"/>
              </a:spcBef>
              <a:buClr>
                <a:srgbClr val="000000"/>
              </a:buClr>
              <a:buFont typeface="Arial"/>
              <a:buChar char="•"/>
              <a:tabLst>
                <a:tab pos="0" algn="l"/>
              </a:tabLst>
              <a:defRPr lang="en-US" sz="2400" b="1" u="none" strike="noStrike">
                <a:solidFill>
                  <a:schemeClr val="dk1"/>
                </a:solidFill>
                <a:effectLst/>
                <a:uFillTx/>
                <a:latin typeface="Calibri"/>
              </a:defRPr>
            </a:lvl1pPr>
          </a:lstStyle>
          <a:p>
            <a:pPr indent="-324000" algn="l" defTabSz="914400">
              <a:lnSpc>
                <a:spcPct val="90000"/>
              </a:lnSpc>
              <a:spcBef>
                <a:spcPts val="1001"/>
              </a:spcBef>
              <a:buClr>
                <a:srgbClr val="000000"/>
              </a:buClr>
              <a:buFont typeface="Arial"/>
              <a:buChar char="•"/>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77" name="PlaceHolder 3"/>
          <p:cNvSpPr>
            <a:spLocks noGrp="1"/>
          </p:cNvSpPr>
          <p:nvPr>
            <p:ph type="body"/>
          </p:nvPr>
        </p:nvSpPr>
        <p:spPr>
          <a:xfrm>
            <a:off x="839880" y="2505240"/>
            <a:ext cx="5155920" cy="36828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78" name="PlaceHolder 4"/>
          <p:cNvSpPr>
            <a:spLocks noGrp="1"/>
          </p:cNvSpPr>
          <p:nvPr>
            <p:ph type="body"/>
          </p:nvPr>
        </p:nvSpPr>
        <p:spPr>
          <a:xfrm>
            <a:off x="6172200" y="1681200"/>
            <a:ext cx="5181480" cy="82224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79" name="PlaceHolder 5"/>
          <p:cNvSpPr>
            <a:spLocks noGrp="1"/>
          </p:cNvSpPr>
          <p:nvPr>
            <p:ph type="body"/>
          </p:nvPr>
        </p:nvSpPr>
        <p:spPr>
          <a:xfrm>
            <a:off x="6172200" y="2505240"/>
            <a:ext cx="5181480" cy="36828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80" name="PlaceHolder 6"/>
          <p:cNvSpPr>
            <a:spLocks noGrp="1"/>
          </p:cNvSpPr>
          <p:nvPr>
            <p:ph type="dt" idx="34"/>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GB" sz="1200" b="0" u="none" strike="noStrike">
              <a:solidFill>
                <a:srgbClr val="000000"/>
              </a:solidFill>
              <a:effectLst/>
              <a:uFillTx/>
              <a:latin typeface="Times New Roman"/>
            </a:endParaRPr>
          </a:p>
        </p:txBody>
      </p:sp>
      <p:sp>
        <p:nvSpPr>
          <p:cNvPr id="81" name="PlaceHolder 7"/>
          <p:cNvSpPr>
            <a:spLocks noGrp="1"/>
          </p:cNvSpPr>
          <p:nvPr>
            <p:ph type="ftr" idx="35"/>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GB" sz="1200" b="0" u="none" strike="noStrike">
              <a:solidFill>
                <a:srgbClr val="000000"/>
              </a:solidFill>
              <a:effectLst/>
              <a:uFillTx/>
              <a:latin typeface="Times New Roman"/>
            </a:endParaRPr>
          </a:p>
        </p:txBody>
      </p:sp>
      <p:sp>
        <p:nvSpPr>
          <p:cNvPr id="82" name="PlaceHolder 8"/>
          <p:cNvSpPr>
            <a:spLocks noGrp="1"/>
          </p:cNvSpPr>
          <p:nvPr>
            <p:ph type="sldNum" idx="36"/>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7955EED3-0A04-40DA-9E9F-707D42161D58}"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hyperlink" Target="https://doi.org/10.1109/TKDE.2024.3352100" TargetMode="External"/><Relationship Id="rId2" Type="http://schemas.openxmlformats.org/officeDocument/2006/relationships/hyperlink" Target="https://ieeexplore.ieee.org/document/10771030" TargetMode="External"/><Relationship Id="rId3" Type="http://schemas.openxmlformats.org/officeDocument/2006/relationships/hyperlink" Target="https://doi.org/10.1109/ICTBAI68361.2025.00008" TargetMode="External"/><Relationship Id="rId4" Type="http://schemas.openxmlformats.org/officeDocument/2006/relationships/hyperlink" Target="https://ieeexplore.ieee.org/document/8047276" TargetMode="External"/><Relationship Id="rId5" Type="http://schemas.openxmlformats.org/officeDocument/2006/relationships/hyperlink" Target="https://python.langchain.com/" TargetMode="External"/><Relationship Id="rId6" Type="http://schemas.openxmlformats.org/officeDocument/2006/relationships/hyperlink" Target="https://neo4j.com/docs/" TargetMode="External"/><Relationship Id="rId7" Type="http://schemas.openxmlformats.org/officeDocument/2006/relationships/hyperlink" Target="https://docs.trychroma.com/" TargetMode="External"/><Relationship Id="rId8" Type="http://schemas.openxmlformats.org/officeDocument/2006/relationships/hyperlink" Target="https://docs.openalex.org/" TargetMode="External"/><Relationship Id="rId9" Type="http://schemas.openxmlformats.org/officeDocument/2006/relationships/hyperlink" Target="https://scholar.google.com/" TargetMode="External"/><Relationship Id="rId10" Type="http://schemas.openxmlformats.org/officeDocument/2006/relationships/hyperlink" Target="https://ieeexplore.ieee.org/" TargetMode="External"/><Relationship Id="rId11" Type="http://schemas.openxmlformats.org/officeDocument/2006/relationships/hyperlink" Target="https://www.semanticscholar.org/" TargetMode="External"/><Relationship Id="rId12"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1044000" y="158400"/>
            <a:ext cx="10923840" cy="820800"/>
          </a:xfrm>
          <a:prstGeom prst="rect">
            <a:avLst/>
          </a:prstGeom>
          <a:solidFill>
            <a:schemeClr val="accent6">
              <a:lumMod val="20000"/>
              <a:lumOff val="80000"/>
            </a:schemeClr>
          </a:solidFill>
          <a:ln w="0">
            <a:noFill/>
          </a:ln>
        </p:spPr>
        <p:txBody>
          <a:bodyPr lIns="91440" tIns="45720" rIns="91440" bIns="45720" anchor="b">
            <a:noAutofit/>
          </a:bodyPr>
          <a:p>
            <a:pPr marL="228600" indent="0" algn="l" defTabSz="914400">
              <a:lnSpc>
                <a:spcPct val="100000"/>
              </a:lnSpc>
              <a:spcBef>
                <a:spcPts val="1757"/>
              </a:spcBef>
              <a:spcAft>
                <a:spcPts val="1559"/>
              </a:spcAft>
              <a:buNone/>
              <a:tabLst>
                <a:tab pos="0" algn="l"/>
              </a:tabLst>
            </a:pPr>
            <a:r>
              <a:rPr lang="en-US" sz="2400" b="0" u="none" strike="noStrike">
                <a:solidFill>
                  <a:schemeClr val="dk1"/>
                </a:solidFill>
                <a:effectLst/>
                <a:uFillTx/>
                <a:latin typeface="Times New Roman"/>
                <a:ea typeface="Microsoft YaHei"/>
              </a:rPr>
              <a:t>Title</a:t>
            </a:r>
            <a:r>
              <a:rPr lang="en-US" sz="2800" b="0" u="none" strike="noStrike">
                <a:solidFill>
                  <a:schemeClr val="dk1"/>
                </a:solidFill>
                <a:effectLst/>
                <a:uFillTx/>
                <a:latin typeface="Times New Roman"/>
                <a:ea typeface="Microsoft YaHei"/>
              </a:rPr>
              <a:t>: </a:t>
            </a:r>
            <a:r>
              <a:rPr lang="en-IN" sz="2000" b="0" u="none" strike="noStrike">
                <a:solidFill>
                  <a:schemeClr val="dk1"/>
                </a:solidFill>
                <a:effectLst/>
                <a:uFillTx/>
                <a:latin typeface="Times New Roman"/>
                <a:ea typeface="Microsoft YaHei"/>
              </a:rPr>
              <a:t>ResearchGraph AI: A Semantic Academic Research Intelligence Platform Using Large Language Models and Knowledge Graphs</a:t>
            </a:r>
            <a:endParaRPr lang="en-US" sz="2000" b="0" u="none" strike="noStrike">
              <a:solidFill>
                <a:schemeClr val="dk1"/>
              </a:solidFill>
              <a:effectLst/>
              <a:uFillTx/>
              <a:latin typeface="Calibri Light"/>
            </a:endParaRPr>
          </a:p>
        </p:txBody>
      </p:sp>
      <p:sp>
        <p:nvSpPr>
          <p:cNvPr id="90" name="TextBox 4"/>
          <p:cNvSpPr/>
          <p:nvPr/>
        </p:nvSpPr>
        <p:spPr>
          <a:xfrm>
            <a:off x="3889440" y="4615920"/>
            <a:ext cx="4493880" cy="364320"/>
          </a:xfrm>
          <a:prstGeom prst="rect">
            <a:avLst/>
          </a:prstGeom>
          <a:noFill/>
          <a:ln w="9360">
            <a:noFill/>
          </a:ln>
        </p:spPr>
        <p:style>
          <a:lnRef idx="0"/>
          <a:fillRef idx="0"/>
          <a:effectRef idx="0"/>
          <a:fontRef idx="minor"/>
        </p:style>
        <p:txBody>
          <a:bodyPr lIns="90000" tIns="45000" rIns="90000" bIns="45000" anchor="t">
            <a:spAutoFit/>
          </a:bodyPr>
          <a:p>
            <a:endParaRPr lang="en-GB" sz="1800" b="0" u="none" strike="noStrike">
              <a:solidFill>
                <a:srgbClr val="000000"/>
              </a:solidFill>
              <a:effectLst/>
              <a:uFillTx/>
              <a:latin typeface="Arial"/>
            </a:endParaRPr>
          </a:p>
        </p:txBody>
      </p:sp>
      <p:sp>
        <p:nvSpPr>
          <p:cNvPr id="91" name="TextBox 6"/>
          <p:cNvSpPr/>
          <p:nvPr/>
        </p:nvSpPr>
        <p:spPr>
          <a:xfrm>
            <a:off x="4988880" y="5346720"/>
            <a:ext cx="2893680" cy="394920"/>
          </a:xfrm>
          <a:prstGeom prst="rect">
            <a:avLst/>
          </a:prstGeom>
          <a:noFill/>
          <a:ln w="9360">
            <a:noFill/>
          </a:ln>
        </p:spPr>
        <p:style>
          <a:lnRef idx="0"/>
          <a:fillRef idx="0"/>
          <a:effectRef idx="0"/>
          <a:fontRef idx="minor"/>
        </p:style>
        <p:txBody>
          <a:bodyPr lIns="90000" tIns="45000" rIns="90000" bIns="45000" anchor="t">
            <a:spAutoFit/>
          </a:bodyPr>
          <a:p>
            <a:endParaRPr lang="en-GB" sz="1800" b="0" u="none" strike="noStrike">
              <a:solidFill>
                <a:srgbClr val="000000"/>
              </a:solidFill>
              <a:effectLst/>
              <a:uFillTx/>
              <a:latin typeface="Arial"/>
            </a:endParaRPr>
          </a:p>
        </p:txBody>
      </p:sp>
      <p:sp>
        <p:nvSpPr>
          <p:cNvPr id="92" name="TextBox 5"/>
          <p:cNvSpPr/>
          <p:nvPr/>
        </p:nvSpPr>
        <p:spPr>
          <a:xfrm>
            <a:off x="2463120" y="2590920"/>
            <a:ext cx="7557480" cy="1736280"/>
          </a:xfrm>
          <a:prstGeom prst="rect">
            <a:avLst/>
          </a:prstGeom>
          <a:noFill/>
          <a:ln w="9360">
            <a:noFill/>
          </a:ln>
        </p:spPr>
        <p:style>
          <a:lnRef idx="0"/>
          <a:fillRef idx="0"/>
          <a:effectRef idx="0"/>
          <a:fontRef idx="minor"/>
        </p:style>
        <p:txBody>
          <a:bodyPr lIns="90000" tIns="45000" rIns="90000" bIns="45000" anchor="t">
            <a:spAutoFit/>
          </a:bodyPr>
          <a:p>
            <a:pPr algn="ctr" defTabSz="914400">
              <a:lnSpc>
                <a:spcPct val="100000"/>
              </a:lnSpc>
            </a:pPr>
            <a:r>
              <a:rPr lang="en-US" sz="1800" b="1" u="none" strike="noStrike">
                <a:solidFill>
                  <a:srgbClr val="9C0400"/>
                </a:solidFill>
                <a:effectLst/>
                <a:uFillTx/>
                <a:latin typeface="Times New Roman"/>
              </a:rPr>
              <a:t>Name: B.Sriharsha, B.Prany Kumar, </a:t>
            </a:r>
            <a:r>
              <a:rPr lang="en-US" sz="1800" b="1" u="none" strike="noStrike">
                <a:solidFill>
                  <a:srgbClr val="9C0400"/>
                </a:solidFill>
                <a:effectLst/>
                <a:uFillTx/>
                <a:latin typeface="Times New Roman"/>
                <a:ea typeface="Times New Roman"/>
              </a:rPr>
              <a:t>B. Rajyavardhan</a:t>
            </a:r>
            <a:endParaRPr lang="en-GB" sz="1800" b="0" u="none" strike="noStrike">
              <a:solidFill>
                <a:srgbClr val="000000"/>
              </a:solidFill>
              <a:effectLst/>
              <a:uFillTx/>
              <a:latin typeface="Arial"/>
            </a:endParaRPr>
          </a:p>
          <a:p>
            <a:pPr algn="ctr" defTabSz="914400">
              <a:lnSpc>
                <a:spcPct val="100000"/>
              </a:lnSpc>
            </a:pPr>
            <a:r>
              <a:rPr lang="en-US" sz="1800" b="1" u="none" strike="noStrike">
                <a:solidFill>
                  <a:srgbClr val="9C0400"/>
                </a:solidFill>
                <a:effectLst/>
                <a:uFillTx/>
                <a:latin typeface="Times New Roman"/>
                <a:ea typeface="Times New Roman"/>
              </a:rPr>
              <a:t>Roll No: 23B81A0551, 23B81A0538, 23B81A05541</a:t>
            </a:r>
            <a:endParaRPr lang="en-GB" sz="1800" b="0" u="none" strike="noStrike">
              <a:solidFill>
                <a:srgbClr val="000000"/>
              </a:solidFill>
              <a:effectLst/>
              <a:uFillTx/>
              <a:latin typeface="Arial"/>
            </a:endParaRPr>
          </a:p>
          <a:p>
            <a:pPr algn="ctr" defTabSz="914400">
              <a:lnSpc>
                <a:spcPct val="100000"/>
              </a:lnSpc>
            </a:pPr>
            <a:r>
              <a:rPr lang="en-US" sz="1800" b="1" u="none" strike="noStrike">
                <a:solidFill>
                  <a:srgbClr val="9C0400"/>
                </a:solidFill>
                <a:effectLst/>
                <a:uFillTx/>
                <a:latin typeface="Times New Roman"/>
                <a:ea typeface="Times New Roman"/>
              </a:rPr>
              <a:t>Section:A</a:t>
            </a:r>
            <a:endParaRPr lang="en-GB" sz="1800" b="0" u="none" strike="noStrike">
              <a:solidFill>
                <a:srgbClr val="000000"/>
              </a:solidFill>
              <a:effectLst/>
              <a:uFillTx/>
              <a:latin typeface="Arial"/>
            </a:endParaRPr>
          </a:p>
          <a:p>
            <a:pPr algn="ctr" defTabSz="914400">
              <a:lnSpc>
                <a:spcPct val="100000"/>
              </a:lnSpc>
            </a:pPr>
            <a:r>
              <a:rPr lang="en-US" sz="1800" b="1" u="none" strike="noStrike">
                <a:solidFill>
                  <a:srgbClr val="9C0400"/>
                </a:solidFill>
                <a:effectLst/>
                <a:uFillTx/>
                <a:latin typeface="Times New Roman"/>
                <a:ea typeface="Times New Roman"/>
              </a:rPr>
              <a:t>Batch No:8</a:t>
            </a:r>
            <a:endParaRPr lang="en-GB" sz="1800" b="0" u="none" strike="noStrike">
              <a:solidFill>
                <a:srgbClr val="000000"/>
              </a:solidFill>
              <a:effectLst/>
              <a:uFillTx/>
              <a:latin typeface="Arial"/>
            </a:endParaRPr>
          </a:p>
          <a:p>
            <a:pPr algn="ctr" defTabSz="914400">
              <a:lnSpc>
                <a:spcPct val="100000"/>
              </a:lnSpc>
            </a:pPr>
            <a:r>
              <a:rPr lang="en-US" sz="1800" b="1" u="none" strike="noStrike">
                <a:solidFill>
                  <a:srgbClr val="9C0400"/>
                </a:solidFill>
                <a:effectLst/>
                <a:uFillTx/>
                <a:latin typeface="Times New Roman"/>
                <a:ea typeface="Times New Roman"/>
              </a:rPr>
              <a:t>Dept:CSE</a:t>
            </a:r>
            <a:endParaRPr lang="en-GB" sz="1800" b="0" u="none" strike="noStrike">
              <a:solidFill>
                <a:srgbClr val="000000"/>
              </a:solidFill>
              <a:effectLst/>
              <a:uFillTx/>
              <a:latin typeface="Arial"/>
            </a:endParaRPr>
          </a:p>
          <a:p>
            <a:pPr algn="ctr" defTabSz="914400">
              <a:lnSpc>
                <a:spcPct val="100000"/>
              </a:lnSpc>
            </a:pPr>
            <a:r>
              <a:rPr lang="en-US" sz="1800" b="1" u="none" strike="noStrike">
                <a:solidFill>
                  <a:srgbClr val="9C0400"/>
                </a:solidFill>
                <a:effectLst/>
                <a:uFillTx/>
                <a:latin typeface="Times New Roman"/>
                <a:ea typeface="Times New Roman"/>
              </a:rPr>
              <a:t>CVR College of Engineering</a:t>
            </a:r>
            <a:endParaRPr lang="en-GB" sz="1800" b="0" u="none" strike="noStrike">
              <a:solidFill>
                <a:srgbClr val="000000"/>
              </a:solidFill>
              <a:effectLst/>
              <a:uFillTx/>
              <a:latin typeface="Arial"/>
            </a:endParaRPr>
          </a:p>
        </p:txBody>
      </p:sp>
      <p:sp>
        <p:nvSpPr>
          <p:cNvPr id="93" name="PlaceHolder 2"/>
          <p:cNvSpPr>
            <a:spLocks noGrp="1"/>
          </p:cNvSpPr>
          <p:nvPr>
            <p:ph type="sldNum" idx="40"/>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AD3A5D95-C272-4E26-8305-B11047ADFB9D}"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
        <p:nvSpPr>
          <p:cNvPr id="94" name="TextBox 8"/>
          <p:cNvSpPr/>
          <p:nvPr/>
        </p:nvSpPr>
        <p:spPr>
          <a:xfrm>
            <a:off x="1411920" y="1396440"/>
            <a:ext cx="8608680" cy="395280"/>
          </a:xfrm>
          <a:prstGeom prst="rect">
            <a:avLst/>
          </a:prstGeom>
          <a:solidFill>
            <a:schemeClr val="lt1"/>
          </a:solidFill>
          <a:ln w="0">
            <a:solidFill>
              <a:srgbClr val="FFFFFF"/>
            </a:solidFill>
          </a:ln>
        </p:spPr>
        <p:style>
          <a:lnRef idx="0"/>
          <a:fillRef idx="0"/>
          <a:effectRef idx="0"/>
          <a:fontRef idx="minor"/>
        </p:style>
        <p:txBody>
          <a:bodyPr lIns="90000" tIns="45000" rIns="90000" bIns="45000" anchor="t">
            <a:spAutoFit/>
          </a:bodyPr>
          <a:p>
            <a:pPr algn="ctr" defTabSz="914400">
              <a:lnSpc>
                <a:spcPct val="100000"/>
              </a:lnSpc>
            </a:pPr>
            <a:r>
              <a:rPr lang="en-US" sz="2000" b="1" u="none" strike="noStrike">
                <a:solidFill>
                  <a:schemeClr val="dk1"/>
                </a:solidFill>
                <a:effectLst/>
                <a:uFillTx/>
                <a:latin typeface="Times New Roman"/>
              </a:rPr>
              <a:t>       Major Project – Stage-I Review-1 Presentation </a:t>
            </a:r>
            <a:endParaRPr lang="en-GB" sz="2000" b="0" u="none" strike="noStrike">
              <a:solidFill>
                <a:srgbClr val="000000"/>
              </a:solidFill>
              <a:effectLst/>
              <a:uFillTx/>
              <a:latin typeface="Arial"/>
            </a:endParaRPr>
          </a:p>
        </p:txBody>
      </p:sp>
      <p:sp>
        <p:nvSpPr>
          <p:cNvPr id="95" name="TextBox 9"/>
          <p:cNvSpPr/>
          <p:nvPr/>
        </p:nvSpPr>
        <p:spPr>
          <a:xfrm>
            <a:off x="5600880" y="2220840"/>
            <a:ext cx="988920" cy="364680"/>
          </a:xfrm>
          <a:prstGeom prst="rect">
            <a:avLst/>
          </a:prstGeom>
          <a:noFill/>
          <a:ln w="9360">
            <a:noFill/>
          </a:ln>
        </p:spPr>
        <p:style>
          <a:lnRef idx="0"/>
          <a:fillRef idx="0"/>
          <a:effectRef idx="0"/>
          <a:fontRef idx="minor"/>
        </p:style>
        <p:txBody>
          <a:bodyPr lIns="90000" tIns="45000" rIns="90000" bIns="45000" anchor="t">
            <a:spAutoFit/>
          </a:bodyPr>
          <a:p>
            <a:pPr algn="ctr" defTabSz="914400">
              <a:lnSpc>
                <a:spcPct val="100000"/>
              </a:lnSpc>
            </a:pPr>
            <a:r>
              <a:rPr lang="en-US" sz="1800" b="0" u="none" strike="noStrike">
                <a:solidFill>
                  <a:schemeClr val="dk1"/>
                </a:solidFill>
                <a:effectLst/>
                <a:uFillTx/>
                <a:latin typeface="Times New Roman"/>
              </a:rPr>
              <a:t>by</a:t>
            </a:r>
            <a:endParaRPr lang="en-GB" sz="1800" b="0" u="none" strike="noStrike">
              <a:solidFill>
                <a:srgbClr val="000000"/>
              </a:solidFill>
              <a:effectLst/>
              <a:uFillTx/>
              <a:latin typeface="Arial"/>
            </a:endParaRPr>
          </a:p>
        </p:txBody>
      </p:sp>
      <p:pic>
        <p:nvPicPr>
          <p:cNvPr id="96" name="Picture 2"/>
          <p:cNvPicPr/>
          <p:nvPr/>
        </p:nvPicPr>
        <p:blipFill>
          <a:blip r:embed="rId1"/>
          <a:stretch/>
        </p:blipFill>
        <p:spPr>
          <a:xfrm>
            <a:off x="183600" y="97200"/>
            <a:ext cx="945000" cy="945000"/>
          </a:xfrm>
          <a:prstGeom prst="rect">
            <a:avLst/>
          </a:prstGeom>
          <a:noFill/>
          <a:ln w="0">
            <a:noFill/>
          </a:ln>
        </p:spPr>
      </p:pic>
      <p:sp>
        <p:nvSpPr>
          <p:cNvPr id="97" name="PlaceHolder 3"/>
          <p:cNvSpPr>
            <a:spLocks noGrp="1"/>
          </p:cNvSpPr>
          <p:nvPr>
            <p:ph type="ftr" idx="41"/>
          </p:nvPr>
        </p:nvSpPr>
        <p:spPr>
          <a:xfrm>
            <a:off x="4038480" y="6356520"/>
            <a:ext cx="47772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IV B.Tech (CSE) – Major Project Presentation Review-1</a:t>
            </a:r>
            <a:endParaRPr lang="en-GB" sz="1200" b="0" u="none" strike="noStrike">
              <a:solidFill>
                <a:srgbClr val="000000"/>
              </a:solidFill>
              <a:effectLst/>
              <a:uFillTx/>
              <a:latin typeface="Times New Roman"/>
            </a:endParaRPr>
          </a:p>
        </p:txBody>
      </p:sp>
      <p:sp>
        <p:nvSpPr>
          <p:cNvPr id="98" name=""/>
          <p:cNvSpPr txBox="1"/>
          <p:nvPr/>
        </p:nvSpPr>
        <p:spPr>
          <a:xfrm>
            <a:off x="4280400" y="4615920"/>
            <a:ext cx="4069440" cy="507240"/>
          </a:xfrm>
          <a:prstGeom prst="rect">
            <a:avLst/>
          </a:prstGeom>
          <a:noFill/>
          <a:ln w="0">
            <a:noFill/>
          </a:ln>
        </p:spPr>
        <p:txBody>
          <a:bodyPr lIns="90000" tIns="45000" rIns="90000" bIns="45000" anchor="t">
            <a:spAutoFit/>
          </a:bodyPr>
          <a:p>
            <a:pPr algn="ctr">
              <a:lnSpc>
                <a:spcPct val="100000"/>
              </a:lnSpc>
              <a:tabLst>
                <a:tab pos="0" algn="l"/>
              </a:tabLst>
            </a:pPr>
            <a:r>
              <a:rPr lang="en-IN" sz="1800" b="0" u="none" strike="noStrike">
                <a:solidFill>
                  <a:schemeClr val="dk1"/>
                </a:solidFill>
                <a:effectLst/>
                <a:uFillTx/>
                <a:latin typeface="Times New Roman"/>
                <a:ea typeface="Times New Roman"/>
              </a:rPr>
              <a:t>Under the Esteemed guidance of</a:t>
            </a:r>
            <a:endParaRPr lang="en-GB" sz="1800" b="0" u="none" strike="noStrike">
              <a:solidFill>
                <a:srgbClr val="000000"/>
              </a:solidFill>
              <a:effectLst/>
              <a:uFillTx/>
              <a:latin typeface="Arial"/>
            </a:endParaRPr>
          </a:p>
        </p:txBody>
      </p:sp>
      <p:sp>
        <p:nvSpPr>
          <p:cNvPr id="99" name=""/>
          <p:cNvSpPr txBox="1"/>
          <p:nvPr/>
        </p:nvSpPr>
        <p:spPr>
          <a:xfrm>
            <a:off x="4280400" y="4980240"/>
            <a:ext cx="4305600" cy="654480"/>
          </a:xfrm>
          <a:prstGeom prst="rect">
            <a:avLst/>
          </a:prstGeom>
          <a:noFill/>
          <a:ln w="0">
            <a:noFill/>
          </a:ln>
        </p:spPr>
        <p:txBody>
          <a:bodyPr lIns="90000" tIns="45000" rIns="90000" bIns="45000" anchor="t">
            <a:spAutoFit/>
          </a:bodyPr>
          <a:p>
            <a:r>
              <a:rPr lang="en-IN" sz="2000" b="1" u="none" strike="noStrike">
                <a:solidFill>
                  <a:srgbClr val="FF0000"/>
                </a:solidFill>
                <a:effectLst/>
                <a:uFillTx/>
                <a:latin typeface="Times New Roman"/>
                <a:ea typeface="Times New Roman"/>
              </a:rPr>
              <a:t>Supervisor name: Ms.S.Sathya sudha </a:t>
            </a:r>
            <a:endParaRPr lang="en-GB" sz="2000" b="0" u="none" strike="noStrike">
              <a:solidFill>
                <a:srgbClr val="000000"/>
              </a:solidFill>
              <a:effectLst/>
              <a:uFillTx/>
              <a:latin typeface="Arial"/>
            </a:endParaRPr>
          </a:p>
          <a:p>
            <a:r>
              <a:rPr lang="en-IN" sz="2000" b="1" u="none" strike="noStrike">
                <a:solidFill>
                  <a:srgbClr val="FF0000"/>
                </a:solidFill>
                <a:effectLst/>
                <a:uFillTx/>
                <a:latin typeface="Times New Roman"/>
                <a:ea typeface="Times New Roman"/>
              </a:rPr>
              <a:t>Designation:Assistant Professor</a:t>
            </a:r>
            <a:endParaRPr lang="en-GB"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p:nvPr>
        </p:nvSpPr>
        <p:spPr>
          <a:xfrm>
            <a:off x="733320" y="762120"/>
            <a:ext cx="10785240" cy="5636880"/>
          </a:xfrm>
          <a:prstGeom prst="rect">
            <a:avLst/>
          </a:prstGeom>
          <a:noFill/>
          <a:ln w="0">
            <a:noFill/>
          </a:ln>
        </p:spPr>
        <p:txBody>
          <a:bodyPr lIns="91440" tIns="45720" rIns="91440" bIns="45720" anchor="t">
            <a:noAutofit/>
          </a:bodyPr>
          <a:p>
            <a:pPr marL="228600" indent="-228600" algn="l" defTabSz="914400">
              <a:lnSpc>
                <a:spcPct val="90000"/>
              </a:lnSpc>
              <a:spcBef>
                <a:spcPts val="1191"/>
              </a:spcBef>
              <a:spcAft>
                <a:spcPts val="992"/>
              </a:spcAft>
              <a:buClr>
                <a:srgbClr val="000000"/>
              </a:buClr>
              <a:buFont typeface="Arial"/>
              <a:buChar char="•"/>
            </a:pPr>
            <a:r>
              <a:rPr lang="en-IN" sz="2000" b="1" u="none" strike="noStrike">
                <a:solidFill>
                  <a:schemeClr val="dk1"/>
                </a:solidFill>
                <a:effectLst/>
                <a:uFillTx/>
                <a:latin typeface="Times New Roman"/>
              </a:rPr>
              <a:t>AIM</a:t>
            </a:r>
            <a:r>
              <a:rPr lang="en-IN" sz="2000" b="0" u="none" strike="noStrike">
                <a:solidFill>
                  <a:schemeClr val="dk1"/>
                </a:solidFill>
                <a:effectLst/>
                <a:uFillTx/>
                <a:latin typeface="Times New Roman"/>
              </a:rPr>
              <a:t> : ResearchGraph AI: A Semantic AcademicResearch Intelligence Platform Using Large Language Models and Knowledge Graphs</a:t>
            </a:r>
            <a:endParaRPr lang="en-US" sz="2000" b="0" u="none" strike="noStrike">
              <a:solidFill>
                <a:schemeClr val="dk1"/>
              </a:solidFill>
              <a:effectLst/>
              <a:uFillTx/>
              <a:latin typeface="Calibri"/>
            </a:endParaRPr>
          </a:p>
          <a:p>
            <a:pPr marL="228600" indent="-228600" algn="l" defTabSz="914400">
              <a:lnSpc>
                <a:spcPct val="90000"/>
              </a:lnSpc>
              <a:spcBef>
                <a:spcPts val="1191"/>
              </a:spcBef>
              <a:spcAft>
                <a:spcPts val="992"/>
              </a:spcAft>
              <a:buClr>
                <a:srgbClr val="000000"/>
              </a:buClr>
              <a:buFont typeface="Arial"/>
              <a:buChar char="•"/>
            </a:pPr>
            <a:r>
              <a:rPr lang="en-IN" sz="1600" b="0" u="none" strike="noStrike">
                <a:solidFill>
                  <a:schemeClr val="dk1"/>
                </a:solidFill>
                <a:effectLst/>
                <a:uFillTx/>
                <a:latin typeface="Times New Roman"/>
              </a:rPr>
              <a:t>The rapid growth of scientific publications has made it increasingly difficult for researchers and students to efficiently explore academic literature. Traditional academic search platforms primarily rely on keyword-based retrieval and citation indexing, requiring users to manually analyze numerous research papers to identify relevant methodologies, datasets, and research gaps. This process is time-consuming and often fails to reveal meaningful relationships among research entities.</a:t>
            </a:r>
            <a:endParaRPr lang="en-US" sz="1600" b="0" u="none" strike="noStrike">
              <a:solidFill>
                <a:schemeClr val="dk1"/>
              </a:solidFill>
              <a:effectLst/>
              <a:uFillTx/>
              <a:latin typeface="Calibri"/>
            </a:endParaRPr>
          </a:p>
          <a:p>
            <a:pPr marL="228600" indent="-228600" algn="l" defTabSz="914400">
              <a:lnSpc>
                <a:spcPct val="90000"/>
              </a:lnSpc>
              <a:spcBef>
                <a:spcPts val="1191"/>
              </a:spcBef>
              <a:spcAft>
                <a:spcPts val="992"/>
              </a:spcAft>
              <a:buClr>
                <a:srgbClr val="000000"/>
              </a:buClr>
              <a:buFont typeface="Arial"/>
              <a:buChar char="•"/>
            </a:pPr>
            <a:r>
              <a:rPr lang="en-IN" sz="1600" b="0" u="none" strike="noStrike">
                <a:solidFill>
                  <a:schemeClr val="dk1"/>
                </a:solidFill>
                <a:effectLst/>
                <a:uFillTx/>
                <a:latin typeface="Times New Roman"/>
              </a:rPr>
              <a:t>ResearchGraph AI: A Semantic Academic Research Intelligence Platform Using Large Language Models and Knowledge Graphs is proposed to address these challenges by integrating semantic search, Knowledge Graphs, and Large Language Models into a unified research assistance platform. The system automatically retrieves research papers from scholarly repositories such as OpenAlex and arXiv, extracts textual content from PDF documents, and converts the information into semantic embeddings for efficient retrieval using a vector database. Simultaneously, entities such as authors, research papers, algorithms, datasets, and research domains are extracted and organized into a Neo4j Knowledge Graph to represent their relationships.</a:t>
            </a:r>
            <a:endParaRPr lang="en-US" sz="1600" b="0" u="none" strike="noStrike">
              <a:solidFill>
                <a:schemeClr val="dk1"/>
              </a:solidFill>
              <a:effectLst/>
              <a:uFillTx/>
              <a:latin typeface="Calibri"/>
            </a:endParaRPr>
          </a:p>
          <a:p>
            <a:pPr marL="228600" indent="-228600" algn="l" defTabSz="914400">
              <a:lnSpc>
                <a:spcPct val="90000"/>
              </a:lnSpc>
              <a:spcBef>
                <a:spcPts val="1191"/>
              </a:spcBef>
              <a:spcAft>
                <a:spcPts val="992"/>
              </a:spcAft>
              <a:buClr>
                <a:srgbClr val="000000"/>
              </a:buClr>
              <a:buFont typeface="Arial"/>
              <a:buChar char="•"/>
            </a:pPr>
            <a:r>
              <a:rPr lang="en-IN" sz="1600" b="0" u="none" strike="noStrike">
                <a:solidFill>
                  <a:schemeClr val="dk1"/>
                </a:solidFill>
                <a:effectLst/>
                <a:uFillTx/>
                <a:latin typeface="Times New Roman"/>
              </a:rPr>
              <a:t>When a user submits a natural language query, the system retrieves relevant document chunks from the vector database and related entities from the Knowledge Graph. This combined contextual information is provided to a Large Language Model through a GraphRAG pipeline to generate accurate, citation-supported responses. The proposed platform assists researchers by simplifying literature reviews, comparing research papers, identifying research gaps, and visualizing relationships among research concepts, thereby improving the efficiency and quality of academic research.</a:t>
            </a:r>
            <a:endParaRPr lang="en-US" sz="1600" b="0" u="none" strike="noStrike">
              <a:solidFill>
                <a:schemeClr val="dk1"/>
              </a:solidFill>
              <a:effectLst/>
              <a:uFillTx/>
              <a:latin typeface="Calibri"/>
            </a:endParaRPr>
          </a:p>
          <a:p>
            <a:pPr indent="0" algn="just" defTabSz="914400">
              <a:lnSpc>
                <a:spcPct val="90000"/>
              </a:lnSpc>
              <a:spcBef>
                <a:spcPts val="1001"/>
              </a:spcBef>
              <a:buNone/>
              <a:tabLst>
                <a:tab pos="0" algn="l"/>
              </a:tabLst>
            </a:pPr>
            <a:endParaRPr lang="en-US" sz="1600" b="0" u="none" strike="noStrike">
              <a:solidFill>
                <a:schemeClr val="dk1"/>
              </a:solidFill>
              <a:effectLst/>
              <a:uFillTx/>
              <a:latin typeface="Calibri"/>
            </a:endParaRPr>
          </a:p>
        </p:txBody>
      </p:sp>
      <p:sp>
        <p:nvSpPr>
          <p:cNvPr id="101" name="PlaceHolder 2"/>
          <p:cNvSpPr>
            <a:spLocks noGrp="1"/>
          </p:cNvSpPr>
          <p:nvPr>
            <p:ph type="sldNum" idx="42"/>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FA4FDEE-DCF2-4160-9155-8383070E9C34}" type="slidenum">
              <a:rPr lang="en-US" sz="1200" b="0" u="none" strike="noStrike">
                <a:solidFill>
                  <a:schemeClr val="dk1">
                    <a:tint val="75000"/>
                  </a:schemeClr>
                </a:solidFill>
                <a:effectLst/>
                <a:uFillTx/>
                <a:latin typeface="Calibri"/>
              </a:rPr>
              <a:t>&lt;number&gt;</a:t>
            </a:fld>
            <a:endParaRPr lang="en-GB" sz="1200" b="0" u="none" strike="noStrike">
              <a:solidFill>
                <a:srgbClr val="000000"/>
              </a:solidFill>
              <a:effectLst/>
              <a:uFillTx/>
              <a:latin typeface="Times New Roman"/>
            </a:endParaRPr>
          </a:p>
        </p:txBody>
      </p:sp>
      <p:sp>
        <p:nvSpPr>
          <p:cNvPr id="102" name="Rectangle 4"/>
          <p:cNvSpPr/>
          <p:nvPr/>
        </p:nvSpPr>
        <p:spPr>
          <a:xfrm>
            <a:off x="0" y="0"/>
            <a:ext cx="12062520" cy="682200"/>
          </a:xfrm>
          <a:prstGeom prst="rect">
            <a:avLst/>
          </a:prstGeom>
          <a:solidFill>
            <a:schemeClr val="accent6">
              <a:lumMod val="20000"/>
              <a:lumOff val="80000"/>
            </a:schemeClr>
          </a:solidFill>
          <a:ln w="9360">
            <a:noFill/>
          </a:ln>
        </p:spPr>
        <p:style>
          <a:lnRef idx="0"/>
          <a:fillRef idx="0"/>
          <a:effectRef idx="0"/>
          <a:fontRef idx="minor"/>
        </p:style>
        <p:txBody>
          <a:bodyPr numCol="1" spcCol="0" lIns="90000" tIns="45000" rIns="90000" bIns="45000" anchor="t">
            <a:noAutofit/>
          </a:bodyPr>
          <a:p>
            <a:pPr algn="ctr" defTabSz="914400">
              <a:lnSpc>
                <a:spcPct val="100000"/>
              </a:lnSpc>
            </a:pPr>
            <a:r>
              <a:rPr lang="en-US" sz="3200" b="1" u="none" strike="noStrike">
                <a:solidFill>
                  <a:srgbClr val="991777"/>
                </a:solidFill>
                <a:effectLst/>
                <a:uFillTx/>
                <a:latin typeface="Times New Roman"/>
              </a:rPr>
              <a:t>Abstract </a:t>
            </a:r>
            <a:endParaRPr lang="en-GB" sz="3200" b="0" u="none" strike="noStrike">
              <a:solidFill>
                <a:srgbClr val="000000"/>
              </a:solidFill>
              <a:effectLst/>
              <a:uFillTx/>
              <a:latin typeface="Arial"/>
            </a:endParaRPr>
          </a:p>
        </p:txBody>
      </p:sp>
      <p:sp>
        <p:nvSpPr>
          <p:cNvPr id="4" name="PlaceHolder 3"/>
          <p:cNvSpPr>
            <a:spLocks noGrp="1"/>
          </p:cNvSpPr>
          <p:nvPr>
            <p:ph type="ftr" idx="23"/>
          </p:nvPr>
        </p:nvSpPr>
        <p:spPr/>
        <p:txBody>
          <a:bodyPr/>
          <a:p>
            <a:r>
              <a:t>IV B.Tech (CSE) – Major Project Presentation Review-1</a:t>
            </a: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p:nvPr>
        </p:nvSpPr>
        <p:spPr>
          <a:xfrm>
            <a:off x="872640" y="400320"/>
            <a:ext cx="10513800" cy="5225040"/>
          </a:xfrm>
          <a:prstGeom prst="rect">
            <a:avLst/>
          </a:prstGeom>
          <a:noFill/>
          <a:ln w="0">
            <a:noFill/>
          </a:ln>
        </p:spPr>
        <p:txBody>
          <a:bodyPr lIns="91440" tIns="45720" rIns="91440" bIns="45720" anchor="t">
            <a:normAutofit fontScale="92500" lnSpcReduction="9999"/>
          </a:bodyPr>
          <a:p>
            <a:pPr marL="514440" indent="0" algn="l" defTabSz="914400">
              <a:lnSpc>
                <a:spcPct val="90000"/>
              </a:lnSpc>
              <a:spcBef>
                <a:spcPts val="1191"/>
              </a:spcBef>
              <a:spcAft>
                <a:spcPts val="992"/>
              </a:spcAft>
              <a:buNone/>
              <a:tabLst>
                <a:tab pos="0" algn="l"/>
              </a:tabLst>
            </a:pPr>
            <a:endParaRPr lang="en-US" sz="1600" b="0" u="none" strike="noStrike">
              <a:solidFill>
                <a:schemeClr val="dk1"/>
              </a:solidFill>
              <a:effectLst/>
              <a:uFillTx/>
              <a:latin typeface="Calibri"/>
            </a:endParaRPr>
          </a:p>
          <a:p>
            <a:pPr marL="514440" indent="-514440" algn="l" defTabSz="914400">
              <a:lnSpc>
                <a:spcPct val="90000"/>
              </a:lnSpc>
              <a:spcBef>
                <a:spcPts val="1191"/>
              </a:spcBef>
              <a:spcAft>
                <a:spcPts val="992"/>
              </a:spcAft>
              <a:buClr>
                <a:srgbClr val="44546A"/>
              </a:buClr>
              <a:buFont typeface="OpenSymbol"/>
              <a:buAutoNum type="arabicPeriod"/>
              <a:tabLst>
                <a:tab pos="0" algn="l"/>
              </a:tabLst>
            </a:pPr>
            <a:r>
              <a:rPr lang="en-US" sz="1600" b="1" u="none" strike="noStrike">
                <a:solidFill>
                  <a:schemeClr val="dk2"/>
                </a:solidFill>
                <a:effectLst/>
                <a:uFillTx/>
                <a:latin typeface="Times New Roman"/>
              </a:rPr>
              <a:t>Aim, Motivation &amp; Novelty </a:t>
            </a:r>
            <a:endParaRPr lang="en-US" sz="1600" b="0" u="none" strike="noStrike">
              <a:solidFill>
                <a:schemeClr val="dk1"/>
              </a:solidFill>
              <a:effectLst/>
              <a:uFillTx/>
              <a:latin typeface="Calibri"/>
            </a:endParaRPr>
          </a:p>
          <a:p>
            <a:pPr marL="514440" indent="-514440" algn="l" defTabSz="914400">
              <a:lnSpc>
                <a:spcPct val="90000"/>
              </a:lnSpc>
              <a:spcBef>
                <a:spcPts val="1191"/>
              </a:spcBef>
              <a:spcAft>
                <a:spcPts val="992"/>
              </a:spcAft>
              <a:buClr>
                <a:srgbClr val="44546A"/>
              </a:buClr>
              <a:buFont typeface="OpenSymbol"/>
              <a:buAutoNum type="arabicPeriod"/>
              <a:tabLst>
                <a:tab pos="0" algn="l"/>
              </a:tabLst>
            </a:pPr>
            <a:r>
              <a:rPr lang="en-US" sz="1600" b="1" u="none" strike="noStrike">
                <a:solidFill>
                  <a:schemeClr val="dk2"/>
                </a:solidFill>
                <a:effectLst/>
                <a:uFillTx/>
                <a:latin typeface="Times New Roman"/>
              </a:rPr>
              <a:t>Problem Statement, Objectives &amp; Scope </a:t>
            </a:r>
            <a:endParaRPr lang="en-US" sz="1600" b="0" u="none" strike="noStrike">
              <a:solidFill>
                <a:schemeClr val="dk1"/>
              </a:solidFill>
              <a:effectLst/>
              <a:uFillTx/>
              <a:latin typeface="Calibri"/>
            </a:endParaRPr>
          </a:p>
          <a:p>
            <a:pPr marL="514440" indent="-514440" algn="l" defTabSz="914400">
              <a:lnSpc>
                <a:spcPct val="90000"/>
              </a:lnSpc>
              <a:spcBef>
                <a:spcPts val="1191"/>
              </a:spcBef>
              <a:spcAft>
                <a:spcPts val="992"/>
              </a:spcAft>
              <a:buClr>
                <a:srgbClr val="44546A"/>
              </a:buClr>
              <a:buFont typeface="OpenSymbol"/>
              <a:buAutoNum type="arabicPeriod"/>
              <a:tabLst>
                <a:tab pos="0" algn="l"/>
              </a:tabLst>
            </a:pPr>
            <a:r>
              <a:rPr lang="en-US" sz="1600" b="1" u="none" strike="noStrike">
                <a:solidFill>
                  <a:schemeClr val="dk2"/>
                </a:solidFill>
                <a:effectLst/>
                <a:uFillTx/>
                <a:latin typeface="Times New Roman"/>
              </a:rPr>
              <a:t>Literature Review </a:t>
            </a:r>
            <a:endParaRPr lang="en-US" sz="1600" b="0" u="none" strike="noStrike">
              <a:solidFill>
                <a:schemeClr val="dk1"/>
              </a:solidFill>
              <a:effectLst/>
              <a:uFillTx/>
              <a:latin typeface="Calibri"/>
            </a:endParaRPr>
          </a:p>
          <a:p>
            <a:pPr marL="514440" indent="-514440" algn="l" defTabSz="914400">
              <a:lnSpc>
                <a:spcPct val="90000"/>
              </a:lnSpc>
              <a:spcBef>
                <a:spcPts val="1191"/>
              </a:spcBef>
              <a:spcAft>
                <a:spcPts val="992"/>
              </a:spcAft>
              <a:buClr>
                <a:srgbClr val="44546A"/>
              </a:buClr>
              <a:buFont typeface="OpenSymbol"/>
              <a:buAutoNum type="arabicPeriod"/>
              <a:tabLst>
                <a:tab pos="0" algn="l"/>
              </a:tabLst>
            </a:pPr>
            <a:r>
              <a:rPr lang="en-US" sz="1600" b="1" u="none" strike="noStrike">
                <a:solidFill>
                  <a:schemeClr val="dk2"/>
                </a:solidFill>
                <a:effectLst/>
                <a:uFillTx/>
                <a:latin typeface="Times New Roman"/>
              </a:rPr>
              <a:t>Research Gap &amp; Proposed Solution </a:t>
            </a:r>
            <a:endParaRPr lang="en-US" sz="1600" b="0" u="none" strike="noStrike">
              <a:solidFill>
                <a:schemeClr val="dk1"/>
              </a:solidFill>
              <a:effectLst/>
              <a:uFillTx/>
              <a:latin typeface="Calibri"/>
            </a:endParaRPr>
          </a:p>
          <a:p>
            <a:pPr marL="514440" indent="-514440" algn="l" defTabSz="914400">
              <a:lnSpc>
                <a:spcPct val="90000"/>
              </a:lnSpc>
              <a:spcBef>
                <a:spcPts val="1191"/>
              </a:spcBef>
              <a:spcAft>
                <a:spcPts val="992"/>
              </a:spcAft>
              <a:buClr>
                <a:srgbClr val="44546A"/>
              </a:buClr>
              <a:buFont typeface="OpenSymbol"/>
              <a:buAutoNum type="arabicPeriod"/>
              <a:tabLst>
                <a:tab pos="0" algn="l"/>
              </a:tabLst>
            </a:pPr>
            <a:r>
              <a:rPr lang="en-US" sz="1600" b="1" u="none" strike="noStrike">
                <a:solidFill>
                  <a:schemeClr val="dk2"/>
                </a:solidFill>
                <a:effectLst/>
                <a:uFillTx/>
                <a:latin typeface="Times New Roman"/>
              </a:rPr>
              <a:t>Software &amp; Hardware Requirements </a:t>
            </a:r>
            <a:endParaRPr lang="en-US" sz="1600" b="0" u="none" strike="noStrike">
              <a:solidFill>
                <a:schemeClr val="dk1"/>
              </a:solidFill>
              <a:effectLst/>
              <a:uFillTx/>
              <a:latin typeface="Calibri"/>
            </a:endParaRPr>
          </a:p>
          <a:p>
            <a:pPr marL="514440" indent="-514440" algn="l" defTabSz="914400">
              <a:lnSpc>
                <a:spcPct val="90000"/>
              </a:lnSpc>
              <a:spcBef>
                <a:spcPts val="1191"/>
              </a:spcBef>
              <a:spcAft>
                <a:spcPts val="992"/>
              </a:spcAft>
              <a:buClr>
                <a:srgbClr val="44546A"/>
              </a:buClr>
              <a:buFont typeface="OpenSymbol"/>
              <a:buAutoNum type="arabicPeriod"/>
              <a:tabLst>
                <a:tab pos="0" algn="l"/>
              </a:tabLst>
            </a:pPr>
            <a:r>
              <a:rPr lang="en-US" sz="1600" b="1" u="none" strike="noStrike">
                <a:solidFill>
                  <a:schemeClr val="dk2"/>
                </a:solidFill>
                <a:effectLst/>
                <a:uFillTx/>
                <a:latin typeface="Times New Roman"/>
              </a:rPr>
              <a:t>Project Milestones </a:t>
            </a:r>
            <a:endParaRPr lang="en-US" sz="1600" b="0" u="none" strike="noStrike">
              <a:solidFill>
                <a:schemeClr val="dk1"/>
              </a:solidFill>
              <a:effectLst/>
              <a:uFillTx/>
              <a:latin typeface="Calibri"/>
            </a:endParaRPr>
          </a:p>
          <a:p>
            <a:pPr marL="514440" indent="-514440" algn="l" defTabSz="914400">
              <a:lnSpc>
                <a:spcPct val="90000"/>
              </a:lnSpc>
              <a:spcBef>
                <a:spcPts val="1191"/>
              </a:spcBef>
              <a:spcAft>
                <a:spcPts val="992"/>
              </a:spcAft>
              <a:buClr>
                <a:srgbClr val="44546A"/>
              </a:buClr>
              <a:buFont typeface="OpenSymbol"/>
              <a:buAutoNum type="arabicPeriod"/>
              <a:tabLst>
                <a:tab pos="0" algn="l"/>
              </a:tabLst>
            </a:pPr>
            <a:r>
              <a:rPr lang="en-US" sz="1600" b="1" u="none" strike="noStrike">
                <a:solidFill>
                  <a:schemeClr val="dk2"/>
                </a:solidFill>
                <a:effectLst/>
                <a:uFillTx/>
                <a:latin typeface="Times New Roman"/>
              </a:rPr>
              <a:t>System Design &amp; Overall Architecture </a:t>
            </a:r>
            <a:endParaRPr lang="en-US" sz="1600" b="0" u="none" strike="noStrike">
              <a:solidFill>
                <a:schemeClr val="dk1"/>
              </a:solidFill>
              <a:effectLst/>
              <a:uFillTx/>
              <a:latin typeface="Calibri"/>
            </a:endParaRPr>
          </a:p>
          <a:p>
            <a:pPr marL="514440" indent="0" algn="l" defTabSz="914400">
              <a:lnSpc>
                <a:spcPct val="90000"/>
              </a:lnSpc>
              <a:spcBef>
                <a:spcPts val="1191"/>
              </a:spcBef>
              <a:spcAft>
                <a:spcPts val="992"/>
              </a:spcAft>
              <a:buNone/>
              <a:tabLst>
                <a:tab pos="0" algn="l"/>
              </a:tabLst>
            </a:pPr>
            <a:r>
              <a:rPr lang="en-US" sz="1400" b="1" u="none" strike="noStrike">
                <a:solidFill>
                  <a:schemeClr val="dk2"/>
                </a:solidFill>
                <a:effectLst/>
                <a:uFillTx/>
                <a:latin typeface="Times New Roman"/>
              </a:rPr>
              <a:t>Proposed System Architecture </a:t>
            </a:r>
            <a:endParaRPr lang="en-US" sz="1400" b="0" u="none" strike="noStrike">
              <a:solidFill>
                <a:schemeClr val="dk1"/>
              </a:solidFill>
              <a:effectLst/>
              <a:uFillTx/>
              <a:latin typeface="Calibri"/>
            </a:endParaRPr>
          </a:p>
          <a:p>
            <a:pPr marL="514440" indent="0" algn="l" defTabSz="914400">
              <a:lnSpc>
                <a:spcPct val="90000"/>
              </a:lnSpc>
              <a:spcBef>
                <a:spcPts val="1191"/>
              </a:spcBef>
              <a:spcAft>
                <a:spcPts val="992"/>
              </a:spcAft>
              <a:buNone/>
              <a:tabLst>
                <a:tab pos="0" algn="l"/>
              </a:tabLst>
            </a:pPr>
            <a:r>
              <a:rPr lang="en-US" sz="1400" b="1" u="none" strike="noStrike">
                <a:solidFill>
                  <a:schemeClr val="dk2"/>
                </a:solidFill>
                <a:effectLst/>
                <a:uFillTx/>
                <a:latin typeface="Times New Roman"/>
              </a:rPr>
              <a:t>GraphRAG Workflow </a:t>
            </a:r>
            <a:endParaRPr lang="en-US" sz="1400" b="0" u="none" strike="noStrike">
              <a:solidFill>
                <a:schemeClr val="dk1"/>
              </a:solidFill>
              <a:effectLst/>
              <a:uFillTx/>
              <a:latin typeface="Calibri"/>
            </a:endParaRPr>
          </a:p>
          <a:p>
            <a:pPr marL="514440" indent="0" algn="l" defTabSz="914400">
              <a:lnSpc>
                <a:spcPct val="90000"/>
              </a:lnSpc>
              <a:spcBef>
                <a:spcPts val="1191"/>
              </a:spcBef>
              <a:spcAft>
                <a:spcPts val="992"/>
              </a:spcAft>
              <a:buNone/>
              <a:tabLst>
                <a:tab pos="0" algn="l"/>
              </a:tabLst>
            </a:pPr>
            <a:r>
              <a:rPr lang="en-US" sz="1400" b="1" u="none" strike="noStrike">
                <a:solidFill>
                  <a:schemeClr val="dk2"/>
                </a:solidFill>
                <a:effectLst/>
                <a:uFillTx/>
                <a:latin typeface="Times New Roman"/>
              </a:rPr>
              <a:t>System Modules </a:t>
            </a:r>
            <a:endParaRPr lang="en-US" sz="1400" b="0" u="none" strike="noStrike">
              <a:solidFill>
                <a:schemeClr val="dk1"/>
              </a:solidFill>
              <a:effectLst/>
              <a:uFillTx/>
              <a:latin typeface="Calibri"/>
            </a:endParaRPr>
          </a:p>
          <a:p>
            <a:pPr marL="514440" indent="0" algn="l" defTabSz="914400">
              <a:lnSpc>
                <a:spcPct val="90000"/>
              </a:lnSpc>
              <a:spcBef>
                <a:spcPts val="1191"/>
              </a:spcBef>
              <a:spcAft>
                <a:spcPts val="992"/>
              </a:spcAft>
              <a:buNone/>
              <a:tabLst>
                <a:tab pos="0" algn="l"/>
              </a:tabLst>
            </a:pPr>
            <a:r>
              <a:rPr lang="en-US" sz="1400" b="1" u="none" strike="noStrike">
                <a:solidFill>
                  <a:schemeClr val="dk2"/>
                </a:solidFill>
                <a:effectLst/>
                <a:uFillTx/>
                <a:latin typeface="Times New Roman"/>
              </a:rPr>
              <a:t>Technology Stack</a:t>
            </a:r>
            <a:endParaRPr lang="en-US" sz="1400" b="0" u="none" strike="noStrike">
              <a:solidFill>
                <a:schemeClr val="dk1"/>
              </a:solidFill>
              <a:effectLst/>
              <a:uFillTx/>
              <a:latin typeface="Calibri"/>
            </a:endParaRPr>
          </a:p>
          <a:p>
            <a:pPr marL="514440" indent="0" algn="l" defTabSz="914400">
              <a:lnSpc>
                <a:spcPct val="90000"/>
              </a:lnSpc>
              <a:spcBef>
                <a:spcPts val="1191"/>
              </a:spcBef>
              <a:spcAft>
                <a:spcPts val="992"/>
              </a:spcAft>
              <a:buNone/>
              <a:tabLst>
                <a:tab pos="0" algn="l"/>
              </a:tabLst>
            </a:pPr>
            <a:endParaRPr lang="en-US" sz="1600" b="0" u="none" strike="noStrike">
              <a:solidFill>
                <a:schemeClr val="dk1"/>
              </a:solidFill>
              <a:effectLst/>
              <a:uFillTx/>
              <a:latin typeface="Calibri"/>
            </a:endParaRPr>
          </a:p>
        </p:txBody>
      </p:sp>
      <p:sp>
        <p:nvSpPr>
          <p:cNvPr id="104" name="Rectangle 4"/>
          <p:cNvSpPr/>
          <p:nvPr/>
        </p:nvSpPr>
        <p:spPr>
          <a:xfrm>
            <a:off x="0" y="0"/>
            <a:ext cx="12190320" cy="682200"/>
          </a:xfrm>
          <a:prstGeom prst="rect">
            <a:avLst/>
          </a:prstGeom>
          <a:solidFill>
            <a:schemeClr val="accent6">
              <a:lumMod val="20000"/>
              <a:lumOff val="80000"/>
            </a:schemeClr>
          </a:solidFill>
          <a:ln w="0">
            <a:noFill/>
          </a:ln>
        </p:spPr>
        <p:style>
          <a:lnRef idx="0"/>
          <a:fillRef idx="0"/>
          <a:effectRef idx="0"/>
          <a:fontRef idx="minor"/>
        </p:style>
        <p:txBody>
          <a:bodyPr lIns="90000" tIns="45000" rIns="90000" bIns="45000" anchor="t">
            <a:normAutofit/>
          </a:bodyPr>
          <a:p>
            <a:pPr algn="ctr" defTabSz="914400">
              <a:lnSpc>
                <a:spcPct val="90000"/>
              </a:lnSpc>
            </a:pPr>
            <a:r>
              <a:rPr lang="en-US" sz="3200" b="1" u="none" strike="noStrike">
                <a:solidFill>
                  <a:schemeClr val="dk2"/>
                </a:solidFill>
                <a:effectLst/>
                <a:uFillTx/>
                <a:latin typeface="Times New Roman"/>
              </a:rPr>
              <a:t>Agenda</a:t>
            </a:r>
            <a:endParaRPr lang="en-GB" sz="3200" b="0" u="none" strike="noStrike">
              <a:solidFill>
                <a:srgbClr val="000000"/>
              </a:solidFill>
              <a:effectLst/>
              <a:uFillTx/>
              <a:latin typeface="Arial"/>
            </a:endParaRPr>
          </a:p>
        </p:txBody>
      </p:sp>
      <p:sp>
        <p:nvSpPr>
          <p:cNvPr id="3" name="PlaceHolder 2"/>
          <p:cNvSpPr>
            <a:spLocks noGrp="1"/>
          </p:cNvSpPr>
          <p:nvPr>
            <p:ph type="ftr" idx="23"/>
          </p:nvPr>
        </p:nvSpPr>
        <p:spPr/>
        <p:txBody>
          <a:bodyPr/>
          <a:p>
            <a:r>
              <a:t>IV B.Tech (CSE) – Major Project Presentation Review-1</a:t>
            </a:r>
          </a:p>
        </p:txBody>
      </p:sp>
      <p:sp>
        <p:nvSpPr>
          <p:cNvPr id="4" name="PlaceHolder 3"/>
          <p:cNvSpPr>
            <a:spLocks noGrp="1"/>
          </p:cNvSpPr>
          <p:nvPr>
            <p:ph type="sldNum" idx="24"/>
          </p:nvPr>
        </p:nvSpPr>
        <p:spPr/>
        <p:txBody>
          <a:bodyPr/>
          <a:p>
            <a:fld id="{F84B6289-FEFD-4717-96DB-01F4E213EBC8}"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p:nvPr>
        </p:nvSpPr>
        <p:spPr>
          <a:xfrm>
            <a:off x="689040" y="799200"/>
            <a:ext cx="11189520" cy="5139360"/>
          </a:xfrm>
          <a:prstGeom prst="rect">
            <a:avLst/>
          </a:prstGeom>
          <a:noFill/>
          <a:ln w="0">
            <a:noFill/>
          </a:ln>
        </p:spPr>
        <p:txBody>
          <a:bodyPr lIns="91440" tIns="45720" rIns="91440" bIns="45720" anchor="t">
            <a:noAutofit/>
          </a:bodyPr>
          <a:p>
            <a:pPr marL="228600" indent="0" algn="l" defTabSz="914400">
              <a:lnSpc>
                <a:spcPct val="90000"/>
              </a:lnSpc>
              <a:spcBef>
                <a:spcPts val="907"/>
              </a:spcBef>
              <a:spcAft>
                <a:spcPts val="709"/>
              </a:spcAft>
              <a:buNone/>
              <a:tabLst>
                <a:tab pos="0" algn="l"/>
              </a:tabLst>
            </a:pPr>
            <a:r>
              <a:rPr lang="en-IN" sz="1800" b="1" u="none" strike="noStrike">
                <a:solidFill>
                  <a:schemeClr val="dk1"/>
                </a:solidFill>
                <a:effectLst/>
                <a:uFillTx/>
                <a:latin typeface="Times New Roman"/>
              </a:rPr>
              <a:t>Aim</a:t>
            </a:r>
            <a:endParaRPr lang="en-US" sz="1800" b="0" u="none" strike="noStrike">
              <a:solidFill>
                <a:schemeClr val="dk1"/>
              </a:solidFill>
              <a:effectLst/>
              <a:uFillTx/>
              <a:latin typeface="Calibri"/>
            </a:endParaRPr>
          </a:p>
          <a:p>
            <a:pPr marL="228600" indent="-228600" algn="l" defTabSz="914400">
              <a:lnSpc>
                <a:spcPct val="90000"/>
              </a:lnSpc>
              <a:spcBef>
                <a:spcPts val="907"/>
              </a:spcBef>
              <a:spcAft>
                <a:spcPts val="709"/>
              </a:spcAft>
              <a:buClr>
                <a:srgbClr val="000000"/>
              </a:buClr>
              <a:buFont typeface="Arial"/>
              <a:buChar char="•"/>
              <a:tabLst>
                <a:tab pos="0" algn="l"/>
              </a:tabLst>
            </a:pPr>
            <a:r>
              <a:rPr lang="en-IN" sz="1600" b="0" u="none" strike="noStrike">
                <a:solidFill>
                  <a:schemeClr val="dk1"/>
                </a:solidFill>
                <a:effectLst/>
                <a:uFillTx/>
                <a:latin typeface="Times New Roman"/>
              </a:rPr>
              <a:t>Develop an intelligent academic research platform that combines Large Language Models (LLMs), Knowledge Graphs, and semantic search to simplify literature review and improve research paper exploration.</a:t>
            </a:r>
            <a:endParaRPr lang="en-US" sz="1600" b="0" u="none" strike="noStrike">
              <a:solidFill>
                <a:schemeClr val="dk1"/>
              </a:solidFill>
              <a:effectLst/>
              <a:uFillTx/>
              <a:latin typeface="Calibri"/>
            </a:endParaRPr>
          </a:p>
          <a:p>
            <a:pPr marL="228600" indent="0" algn="l" defTabSz="914400">
              <a:lnSpc>
                <a:spcPct val="90000"/>
              </a:lnSpc>
              <a:spcBef>
                <a:spcPts val="1191"/>
              </a:spcBef>
              <a:spcAft>
                <a:spcPts val="992"/>
              </a:spcAft>
              <a:buNone/>
              <a:tabLst>
                <a:tab pos="0" algn="l"/>
              </a:tabLst>
            </a:pPr>
            <a:r>
              <a:rPr lang="en-IN" sz="1800" b="1" u="none" strike="noStrike">
                <a:solidFill>
                  <a:schemeClr val="dk1"/>
                </a:solidFill>
                <a:effectLst/>
                <a:uFillTx/>
                <a:latin typeface="Times New Roman"/>
              </a:rPr>
              <a:t>Motivation</a:t>
            </a:r>
            <a:endParaRPr lang="en-US" sz="1800" b="0" u="none" strike="noStrike">
              <a:solidFill>
                <a:schemeClr val="dk1"/>
              </a:solidFill>
              <a:effectLst/>
              <a:uFillTx/>
              <a:latin typeface="Calibri"/>
            </a:endParaRPr>
          </a:p>
          <a:p>
            <a:pPr marL="228600" indent="-228600" algn="l" defTabSz="914400">
              <a:lnSpc>
                <a:spcPct val="90000"/>
              </a:lnSpc>
              <a:spcBef>
                <a:spcPts val="907"/>
              </a:spcBef>
              <a:spcAft>
                <a:spcPts val="709"/>
              </a:spcAft>
              <a:buClr>
                <a:srgbClr val="000000"/>
              </a:buClr>
              <a:buFont typeface="Arial"/>
              <a:buChar char="•"/>
              <a:tabLst>
                <a:tab pos="0" algn="l"/>
              </a:tabLst>
            </a:pPr>
            <a:r>
              <a:rPr lang="en-IN" sz="1600" b="0" u="none" strike="noStrike">
                <a:solidFill>
                  <a:schemeClr val="dk1"/>
                </a:solidFill>
                <a:effectLst/>
                <a:uFillTx/>
                <a:latin typeface="Times New Roman"/>
              </a:rPr>
              <a:t>Researchers spend significant time searching and reading research papers. </a:t>
            </a:r>
            <a:endParaRPr lang="en-US" sz="1600" b="0" u="none" strike="noStrike">
              <a:solidFill>
                <a:schemeClr val="dk1"/>
              </a:solidFill>
              <a:effectLst/>
              <a:uFillTx/>
              <a:latin typeface="Calibri"/>
            </a:endParaRPr>
          </a:p>
          <a:p>
            <a:pPr marL="228600" indent="-228600" algn="l" defTabSz="914400">
              <a:lnSpc>
                <a:spcPct val="90000"/>
              </a:lnSpc>
              <a:spcBef>
                <a:spcPts val="907"/>
              </a:spcBef>
              <a:spcAft>
                <a:spcPts val="709"/>
              </a:spcAft>
              <a:buClr>
                <a:srgbClr val="000000"/>
              </a:buClr>
              <a:buFont typeface="Arial"/>
              <a:buChar char="•"/>
              <a:tabLst>
                <a:tab pos="0" algn="l"/>
              </a:tabLst>
            </a:pPr>
            <a:r>
              <a:rPr lang="en-IN" sz="1600" b="0" u="none" strike="noStrike">
                <a:solidFill>
                  <a:schemeClr val="dk1"/>
                </a:solidFill>
                <a:effectLst/>
                <a:uFillTx/>
                <a:latin typeface="Times New Roman"/>
              </a:rPr>
              <a:t>Existing academic search engines mainly depend on keyword matching. </a:t>
            </a:r>
            <a:endParaRPr lang="en-US" sz="1600" b="0" u="none" strike="noStrike">
              <a:solidFill>
                <a:schemeClr val="dk1"/>
              </a:solidFill>
              <a:effectLst/>
              <a:uFillTx/>
              <a:latin typeface="Calibri"/>
            </a:endParaRPr>
          </a:p>
          <a:p>
            <a:pPr marL="228600" indent="-228600" algn="l" defTabSz="914400">
              <a:lnSpc>
                <a:spcPct val="90000"/>
              </a:lnSpc>
              <a:spcBef>
                <a:spcPts val="907"/>
              </a:spcBef>
              <a:spcAft>
                <a:spcPts val="709"/>
              </a:spcAft>
              <a:buClr>
                <a:srgbClr val="000000"/>
              </a:buClr>
              <a:buFont typeface="Arial"/>
              <a:buChar char="•"/>
              <a:tabLst>
                <a:tab pos="0" algn="l"/>
              </a:tabLst>
            </a:pPr>
            <a:r>
              <a:rPr lang="en-IN" sz="1600" b="0" u="none" strike="noStrike">
                <a:solidFill>
                  <a:schemeClr val="dk1"/>
                </a:solidFill>
                <a:effectLst/>
                <a:uFillTx/>
                <a:latin typeface="Times New Roman"/>
              </a:rPr>
              <a:t>Understanding relationships among papers, authors, and methodologies is difficult. </a:t>
            </a:r>
            <a:endParaRPr lang="en-US" sz="1600" b="0" u="none" strike="noStrike">
              <a:solidFill>
                <a:schemeClr val="dk1"/>
              </a:solidFill>
              <a:effectLst/>
              <a:uFillTx/>
              <a:latin typeface="Calibri"/>
            </a:endParaRPr>
          </a:p>
          <a:p>
            <a:pPr marL="228600" indent="-228600" algn="l" defTabSz="914400">
              <a:lnSpc>
                <a:spcPct val="90000"/>
              </a:lnSpc>
              <a:spcBef>
                <a:spcPts val="907"/>
              </a:spcBef>
              <a:spcAft>
                <a:spcPts val="709"/>
              </a:spcAft>
              <a:buClr>
                <a:srgbClr val="000000"/>
              </a:buClr>
              <a:buFont typeface="Arial"/>
              <a:buChar char="•"/>
              <a:tabLst>
                <a:tab pos="0" algn="l"/>
              </a:tabLst>
            </a:pPr>
            <a:r>
              <a:rPr lang="en-IN" sz="1600" b="0" u="none" strike="noStrike">
                <a:solidFill>
                  <a:schemeClr val="dk1"/>
                </a:solidFill>
                <a:effectLst/>
                <a:uFillTx/>
                <a:latin typeface="Times New Roman"/>
              </a:rPr>
              <a:t>AI can automate literature review and provide intelligent research assistance. </a:t>
            </a:r>
            <a:endParaRPr lang="en-US" sz="1600" b="0" u="none" strike="noStrike">
              <a:solidFill>
                <a:schemeClr val="dk1"/>
              </a:solidFill>
              <a:effectLst/>
              <a:uFillTx/>
              <a:latin typeface="Calibri"/>
            </a:endParaRPr>
          </a:p>
          <a:p>
            <a:pPr marL="228600" indent="0" algn="l" defTabSz="914400">
              <a:lnSpc>
                <a:spcPct val="90000"/>
              </a:lnSpc>
              <a:spcBef>
                <a:spcPts val="1191"/>
              </a:spcBef>
              <a:spcAft>
                <a:spcPts val="992"/>
              </a:spcAft>
              <a:buNone/>
              <a:tabLst>
                <a:tab pos="0" algn="l"/>
              </a:tabLst>
            </a:pPr>
            <a:r>
              <a:rPr lang="en-IN" sz="1800" b="1" u="none" strike="noStrike">
                <a:solidFill>
                  <a:schemeClr val="dk1"/>
                </a:solidFill>
                <a:effectLst/>
                <a:uFillTx/>
                <a:latin typeface="Times New Roman"/>
              </a:rPr>
              <a:t>Novelty</a:t>
            </a:r>
            <a:endParaRPr lang="en-US" sz="1800" b="0" u="none" strike="noStrike">
              <a:solidFill>
                <a:schemeClr val="dk1"/>
              </a:solidFill>
              <a:effectLst/>
              <a:uFillTx/>
              <a:latin typeface="Calibri"/>
            </a:endParaRPr>
          </a:p>
          <a:p>
            <a:pPr marL="228600" indent="-228600" algn="l" defTabSz="914400">
              <a:lnSpc>
                <a:spcPct val="90000"/>
              </a:lnSpc>
              <a:spcBef>
                <a:spcPts val="907"/>
              </a:spcBef>
              <a:spcAft>
                <a:spcPts val="709"/>
              </a:spcAft>
              <a:buClr>
                <a:srgbClr val="000000"/>
              </a:buClr>
              <a:buFont typeface="Arial"/>
              <a:buChar char="•"/>
              <a:tabLst>
                <a:tab pos="0" algn="l"/>
              </a:tabLst>
            </a:pPr>
            <a:r>
              <a:rPr lang="en-IN" sz="1600" b="0" u="none" strike="noStrike">
                <a:solidFill>
                  <a:schemeClr val="dk1"/>
                </a:solidFill>
                <a:effectLst/>
                <a:uFillTx/>
                <a:latin typeface="Times New Roman"/>
              </a:rPr>
              <a:t>Integrates GraphRAG instead of traditional RAG. </a:t>
            </a:r>
            <a:endParaRPr lang="en-US" sz="1600" b="0" u="none" strike="noStrike">
              <a:solidFill>
                <a:schemeClr val="dk1"/>
              </a:solidFill>
              <a:effectLst/>
              <a:uFillTx/>
              <a:latin typeface="Calibri"/>
            </a:endParaRPr>
          </a:p>
          <a:p>
            <a:pPr marL="228600" indent="-228600" algn="l" defTabSz="914400">
              <a:lnSpc>
                <a:spcPct val="90000"/>
              </a:lnSpc>
              <a:spcBef>
                <a:spcPts val="907"/>
              </a:spcBef>
              <a:spcAft>
                <a:spcPts val="709"/>
              </a:spcAft>
              <a:buClr>
                <a:srgbClr val="000000"/>
              </a:buClr>
              <a:buFont typeface="Arial"/>
              <a:buChar char="•"/>
              <a:tabLst>
                <a:tab pos="0" algn="l"/>
              </a:tabLst>
            </a:pPr>
            <a:r>
              <a:rPr lang="en-IN" sz="1600" b="0" u="none" strike="noStrike">
                <a:solidFill>
                  <a:schemeClr val="dk1"/>
                </a:solidFill>
                <a:effectLst/>
                <a:uFillTx/>
                <a:latin typeface="Times New Roman"/>
              </a:rPr>
              <a:t>Combines Vector Search with Knowledge Graph reasoning. </a:t>
            </a:r>
            <a:endParaRPr lang="en-US" sz="1600" b="0" u="none" strike="noStrike">
              <a:solidFill>
                <a:schemeClr val="dk1"/>
              </a:solidFill>
              <a:effectLst/>
              <a:uFillTx/>
              <a:latin typeface="Calibri"/>
            </a:endParaRPr>
          </a:p>
          <a:p>
            <a:pPr marL="228600" indent="-228600" algn="l" defTabSz="914400">
              <a:lnSpc>
                <a:spcPct val="90000"/>
              </a:lnSpc>
              <a:spcBef>
                <a:spcPts val="907"/>
              </a:spcBef>
              <a:spcAft>
                <a:spcPts val="709"/>
              </a:spcAft>
              <a:buClr>
                <a:srgbClr val="000000"/>
              </a:buClr>
              <a:buFont typeface="Arial"/>
              <a:buChar char="•"/>
              <a:tabLst>
                <a:tab pos="0" algn="l"/>
              </a:tabLst>
            </a:pPr>
            <a:r>
              <a:rPr lang="en-IN" sz="1600" b="0" u="none" strike="noStrike">
                <a:solidFill>
                  <a:schemeClr val="dk1"/>
                </a:solidFill>
                <a:effectLst/>
                <a:uFillTx/>
                <a:latin typeface="Times New Roman"/>
              </a:rPr>
              <a:t>Generates citation-supported answers using Large Language Models. </a:t>
            </a:r>
            <a:endParaRPr lang="en-US" sz="1600" b="0" u="none" strike="noStrike">
              <a:solidFill>
                <a:schemeClr val="dk1"/>
              </a:solidFill>
              <a:effectLst/>
              <a:uFillTx/>
              <a:latin typeface="Calibri"/>
            </a:endParaRPr>
          </a:p>
          <a:p>
            <a:pPr marL="228600" indent="-228600" algn="l" defTabSz="914400">
              <a:lnSpc>
                <a:spcPct val="90000"/>
              </a:lnSpc>
              <a:spcBef>
                <a:spcPts val="907"/>
              </a:spcBef>
              <a:spcAft>
                <a:spcPts val="709"/>
              </a:spcAft>
              <a:buClr>
                <a:srgbClr val="000000"/>
              </a:buClr>
              <a:buFont typeface="Arial"/>
              <a:buChar char="•"/>
              <a:tabLst>
                <a:tab pos="0" algn="l"/>
              </a:tabLst>
            </a:pPr>
            <a:r>
              <a:rPr lang="en-IN" sz="1600" b="0" u="none" strike="noStrike">
                <a:solidFill>
                  <a:schemeClr val="dk1"/>
                </a:solidFill>
                <a:effectLst/>
                <a:uFillTx/>
                <a:latin typeface="Times New Roman"/>
              </a:rPr>
              <a:t>Visualizes relationships among research entities.</a:t>
            </a:r>
            <a:endParaRPr lang="en-US" sz="1600" b="0" u="none" strike="noStrike">
              <a:solidFill>
                <a:schemeClr val="dk1"/>
              </a:solidFill>
              <a:effectLst/>
              <a:uFillTx/>
              <a:latin typeface="Calibri"/>
            </a:endParaRPr>
          </a:p>
          <a:p>
            <a:pPr marL="228600" indent="0" algn="l" defTabSz="914400">
              <a:lnSpc>
                <a:spcPct val="90000"/>
              </a:lnSpc>
              <a:spcBef>
                <a:spcPts val="1191"/>
              </a:spcBef>
              <a:spcAft>
                <a:spcPts val="992"/>
              </a:spcAft>
              <a:buNone/>
              <a:tabLst>
                <a:tab pos="0" algn="l"/>
              </a:tabLst>
            </a:pPr>
            <a:endParaRPr lang="en-US" sz="1600" b="0" u="none" strike="noStrike">
              <a:solidFill>
                <a:schemeClr val="dk1"/>
              </a:solidFill>
              <a:effectLst/>
              <a:uFillTx/>
              <a:latin typeface="Calibri"/>
            </a:endParaRPr>
          </a:p>
        </p:txBody>
      </p:sp>
      <p:sp>
        <p:nvSpPr>
          <p:cNvPr id="106" name="Rectangle 4"/>
          <p:cNvSpPr/>
          <p:nvPr/>
        </p:nvSpPr>
        <p:spPr>
          <a:xfrm>
            <a:off x="0" y="0"/>
            <a:ext cx="12190320" cy="682200"/>
          </a:xfrm>
          <a:prstGeom prst="rect">
            <a:avLst/>
          </a:prstGeom>
          <a:solidFill>
            <a:schemeClr val="accent6">
              <a:lumMod val="20000"/>
              <a:lumOff val="80000"/>
            </a:schemeClr>
          </a:solidFill>
          <a:ln w="0">
            <a:noFill/>
          </a:ln>
        </p:spPr>
        <p:style>
          <a:lnRef idx="0"/>
          <a:fillRef idx="0"/>
          <a:effectRef idx="0"/>
          <a:fontRef idx="minor"/>
        </p:style>
        <p:txBody>
          <a:bodyPr lIns="90000" tIns="45000" rIns="90000" bIns="45000" anchor="t">
            <a:normAutofit fontScale="85000" lnSpcReduction="9999"/>
          </a:bodyPr>
          <a:p>
            <a:pPr algn="ctr" defTabSz="914400">
              <a:lnSpc>
                <a:spcPct val="150000"/>
              </a:lnSpc>
            </a:pPr>
            <a:r>
              <a:rPr lang="en-US" sz="3200" b="1" u="none" strike="noStrike">
                <a:solidFill>
                  <a:schemeClr val="dk2"/>
                </a:solidFill>
                <a:effectLst/>
                <a:uFillTx/>
                <a:latin typeface="Times New Roman"/>
              </a:rPr>
              <a:t>1.Aim, motivation, novelty</a:t>
            </a:r>
            <a:endParaRPr lang="en-GB" sz="3200" b="0" u="none" strike="noStrike">
              <a:solidFill>
                <a:srgbClr val="000000"/>
              </a:solidFill>
              <a:effectLst/>
              <a:uFillTx/>
              <a:latin typeface="Arial"/>
            </a:endParaRPr>
          </a:p>
          <a:p>
            <a:pPr algn="ctr" defTabSz="914400">
              <a:lnSpc>
                <a:spcPct val="150000"/>
              </a:lnSpc>
              <a:tabLst>
                <a:tab pos="0" algn="l"/>
              </a:tabLst>
            </a:pPr>
            <a:endParaRPr lang="en-GB" sz="3200" b="0" u="none" strike="noStrike">
              <a:solidFill>
                <a:srgbClr val="000000"/>
              </a:solidFill>
              <a:effectLst/>
              <a:uFillTx/>
              <a:latin typeface="Arial"/>
            </a:endParaRPr>
          </a:p>
        </p:txBody>
      </p:sp>
      <p:sp>
        <p:nvSpPr>
          <p:cNvPr id="3" name="PlaceHolder 2"/>
          <p:cNvSpPr>
            <a:spLocks noGrp="1"/>
          </p:cNvSpPr>
          <p:nvPr>
            <p:ph type="ftr" idx="23"/>
          </p:nvPr>
        </p:nvSpPr>
        <p:spPr/>
        <p:txBody>
          <a:bodyPr/>
          <a:p>
            <a:r>
              <a:t>IV B.Tech (CSE) – Major Project Presentation Review-1</a:t>
            </a:r>
          </a:p>
        </p:txBody>
      </p:sp>
      <p:sp>
        <p:nvSpPr>
          <p:cNvPr id="4" name="PlaceHolder 3"/>
          <p:cNvSpPr>
            <a:spLocks noGrp="1"/>
          </p:cNvSpPr>
          <p:nvPr>
            <p:ph type="sldNum" idx="24"/>
          </p:nvPr>
        </p:nvSpPr>
        <p:spPr/>
        <p:txBody>
          <a:bodyPr/>
          <a:p>
            <a:fld id="{40D0BCA1-76AC-4681-9DE8-D4012EA4C920}"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p:nvPr>
        </p:nvSpPr>
        <p:spPr>
          <a:xfrm>
            <a:off x="838080" y="1166400"/>
            <a:ext cx="10513800" cy="5008680"/>
          </a:xfrm>
          <a:prstGeom prst="rect">
            <a:avLst/>
          </a:prstGeom>
          <a:noFill/>
          <a:ln w="0">
            <a:noFill/>
          </a:ln>
        </p:spPr>
        <p:txBody>
          <a:bodyPr lIns="91440" tIns="45720" rIns="91440" bIns="45720" anchor="t">
            <a:no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108" name="Rectangle 4"/>
          <p:cNvSpPr/>
          <p:nvPr/>
        </p:nvSpPr>
        <p:spPr>
          <a:xfrm>
            <a:off x="0" y="0"/>
            <a:ext cx="12190320" cy="682200"/>
          </a:xfrm>
          <a:prstGeom prst="rect">
            <a:avLst/>
          </a:prstGeom>
          <a:solidFill>
            <a:schemeClr val="accent6">
              <a:lumMod val="20000"/>
              <a:lumOff val="80000"/>
            </a:schemeClr>
          </a:solidFill>
          <a:ln w="0">
            <a:noFill/>
          </a:ln>
        </p:spPr>
        <p:style>
          <a:lnRef idx="0"/>
          <a:fillRef idx="0"/>
          <a:effectRef idx="0"/>
          <a:fontRef idx="minor"/>
        </p:style>
        <p:txBody>
          <a:bodyPr lIns="90000" tIns="45000" rIns="90000" bIns="45000" anchor="t">
            <a:normAutofit fontScale="85000" lnSpcReduction="9999"/>
          </a:bodyPr>
          <a:p>
            <a:pPr algn="ctr" defTabSz="914400">
              <a:lnSpc>
                <a:spcPct val="150000"/>
              </a:lnSpc>
            </a:pPr>
            <a:r>
              <a:rPr lang="en-US" sz="3200" b="1" u="none" strike="noStrike">
                <a:solidFill>
                  <a:schemeClr val="dk2"/>
                </a:solidFill>
                <a:effectLst/>
                <a:uFillTx/>
                <a:latin typeface="Times New Roman"/>
              </a:rPr>
              <a:t>2.Problem statement, objectives, and scope</a:t>
            </a:r>
            <a:endParaRPr lang="en-GB" sz="3200" b="0" u="none" strike="noStrike">
              <a:solidFill>
                <a:srgbClr val="000000"/>
              </a:solidFill>
              <a:effectLst/>
              <a:uFillTx/>
              <a:latin typeface="Arial"/>
            </a:endParaRPr>
          </a:p>
          <a:p>
            <a:pPr algn="ctr" defTabSz="914400">
              <a:lnSpc>
                <a:spcPct val="150000"/>
              </a:lnSpc>
              <a:tabLst>
                <a:tab pos="0" algn="l"/>
              </a:tabLst>
            </a:pPr>
            <a:endParaRPr lang="en-GB" sz="3200" b="0" u="none" strike="noStrike">
              <a:solidFill>
                <a:srgbClr val="000000"/>
              </a:solidFill>
              <a:effectLst/>
              <a:uFillTx/>
              <a:latin typeface="Arial"/>
            </a:endParaRPr>
          </a:p>
        </p:txBody>
      </p:sp>
      <p:sp>
        <p:nvSpPr>
          <p:cNvPr id="109" name=""/>
          <p:cNvSpPr/>
          <p:nvPr/>
        </p:nvSpPr>
        <p:spPr>
          <a:xfrm>
            <a:off x="540000" y="745560"/>
            <a:ext cx="11158560" cy="50835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GB" sz="1800" b="1" u="none" strike="noStrike">
                <a:solidFill>
                  <a:srgbClr val="000000"/>
                </a:solidFill>
                <a:effectLst/>
                <a:uFillTx/>
                <a:latin typeface="Times New Roman"/>
              </a:rPr>
              <a:t>Problem Statement</a:t>
            </a:r>
            <a:endParaRPr lang="en-GB" sz="18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GB" sz="1600" b="0" u="none" strike="noStrike">
                <a:solidFill>
                  <a:srgbClr val="000000"/>
                </a:solidFill>
                <a:effectLst/>
                <a:uFillTx/>
                <a:latin typeface="Times New Roman"/>
              </a:rPr>
              <a:t>The rapid increase in research publications has made literature review more challenging. Existing academic search platforms return relevant papers but do not explain the relationships among research papers, methodologies, datasets, and authors. Researchers must manually analyze multiple papers to understand research trends and identify research gaps.</a:t>
            </a:r>
            <a:endParaRPr lang="en-GB" sz="1600" b="0" u="none" strike="noStrike">
              <a:solidFill>
                <a:srgbClr val="000000"/>
              </a:solidFill>
              <a:effectLst/>
              <a:uFillTx/>
              <a:latin typeface="Arial"/>
            </a:endParaRPr>
          </a:p>
          <a:p>
            <a:pPr>
              <a:lnSpc>
                <a:spcPct val="100000"/>
              </a:lnSpc>
            </a:pPr>
            <a:r>
              <a:rPr lang="en-GB" sz="1800" b="1" u="none" strike="noStrike">
                <a:solidFill>
                  <a:srgbClr val="000000"/>
                </a:solidFill>
                <a:effectLst/>
                <a:uFillTx/>
                <a:latin typeface="Times New Roman"/>
              </a:rPr>
              <a:t>Objectives</a:t>
            </a:r>
            <a:endParaRPr lang="en-GB" sz="18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Collect research papers from scholarly repositories.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Generate semantic embeddings for efficient retrieval.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Construct a Knowledge Graph representing research relationships.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Integrate GraphRAG for intelligent question answering.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Generate citation-supported responses using LLMs. </a:t>
            </a:r>
            <a:endParaRPr lang="en-GB" sz="1600" b="0" u="none" strike="noStrike">
              <a:solidFill>
                <a:srgbClr val="000000"/>
              </a:solidFill>
              <a:effectLst/>
              <a:uFillTx/>
              <a:latin typeface="Arial"/>
            </a:endParaRPr>
          </a:p>
          <a:p>
            <a:pPr>
              <a:lnSpc>
                <a:spcPct val="100000"/>
              </a:lnSpc>
            </a:pPr>
            <a:r>
              <a:rPr lang="en-GB" sz="1800" b="1" u="none" strike="noStrike">
                <a:solidFill>
                  <a:srgbClr val="000000"/>
                </a:solidFill>
                <a:effectLst/>
                <a:uFillTx/>
                <a:latin typeface="Times New Roman"/>
              </a:rPr>
              <a:t>Scope</a:t>
            </a:r>
            <a:endParaRPr lang="en-GB" sz="18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lang="en-GB" sz="1600" b="0" u="none" strike="noStrike">
                <a:solidFill>
                  <a:srgbClr val="000000"/>
                </a:solidFill>
                <a:effectLst/>
                <a:uFillTx/>
                <a:latin typeface="Times New Roman"/>
              </a:rPr>
              <a:t>The proposed system focuses on Computer Science research papers and assists students, researchers, and faculty members in literature review, research paper comparison, and research gap identification.</a:t>
            </a:r>
            <a:endParaRPr lang="en-GB" sz="1600" b="0" u="none" strike="noStrike">
              <a:solidFill>
                <a:srgbClr val="000000"/>
              </a:solidFill>
              <a:effectLst/>
              <a:uFillTx/>
              <a:latin typeface="Arial"/>
            </a:endParaRPr>
          </a:p>
          <a:p>
            <a:pPr>
              <a:lnSpc>
                <a:spcPct val="100000"/>
              </a:lnSpc>
            </a:pPr>
            <a:endParaRPr lang="en-GB" sz="1000" b="0" u="none" strike="noStrike">
              <a:solidFill>
                <a:srgbClr val="000000"/>
              </a:solidFill>
              <a:effectLst/>
              <a:uFillTx/>
              <a:latin typeface="Arial"/>
            </a:endParaRPr>
          </a:p>
        </p:txBody>
      </p:sp>
      <p:sp>
        <p:nvSpPr>
          <p:cNvPr id="3" name="PlaceHolder 2"/>
          <p:cNvSpPr>
            <a:spLocks noGrp="1"/>
          </p:cNvSpPr>
          <p:nvPr>
            <p:ph type="ftr" idx="23"/>
          </p:nvPr>
        </p:nvSpPr>
        <p:spPr/>
        <p:txBody>
          <a:bodyPr/>
          <a:p>
            <a:r>
              <a:t>IV B.Tech (CSE) – Major Project Presentation Review-1</a:t>
            </a:r>
          </a:p>
        </p:txBody>
      </p:sp>
      <p:sp>
        <p:nvSpPr>
          <p:cNvPr id="4" name="PlaceHolder 3"/>
          <p:cNvSpPr>
            <a:spLocks noGrp="1"/>
          </p:cNvSpPr>
          <p:nvPr>
            <p:ph type="sldNum" idx="24"/>
          </p:nvPr>
        </p:nvSpPr>
        <p:spPr/>
        <p:txBody>
          <a:bodyPr/>
          <a:p>
            <a:fld id="{A33E4B92-2AEF-4FCA-9E0E-239BC2060DAE}"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p:nvPr>
        </p:nvSpPr>
        <p:spPr>
          <a:xfrm>
            <a:off x="838080" y="1825560"/>
            <a:ext cx="10513800" cy="4349520"/>
          </a:xfrm>
          <a:prstGeom prst="rect">
            <a:avLst/>
          </a:prstGeom>
          <a:noFill/>
          <a:ln w="0">
            <a:noFill/>
          </a:ln>
        </p:spPr>
        <p:txBody>
          <a:bodyPr lIns="91440" tIns="45720" rIns="91440" bIns="45720" anchor="t">
            <a:no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111" name="Rectangle 4"/>
          <p:cNvSpPr/>
          <p:nvPr/>
        </p:nvSpPr>
        <p:spPr>
          <a:xfrm>
            <a:off x="0" y="0"/>
            <a:ext cx="12190320" cy="682200"/>
          </a:xfrm>
          <a:prstGeom prst="rect">
            <a:avLst/>
          </a:prstGeom>
          <a:solidFill>
            <a:schemeClr val="accent6">
              <a:lumMod val="20000"/>
              <a:lumOff val="80000"/>
            </a:schemeClr>
          </a:solidFill>
          <a:ln w="0">
            <a:noFill/>
          </a:ln>
        </p:spPr>
        <p:style>
          <a:lnRef idx="0"/>
          <a:fillRef idx="0"/>
          <a:effectRef idx="0"/>
          <a:fontRef idx="minor"/>
        </p:style>
        <p:txBody>
          <a:bodyPr lIns="90000" tIns="45000" rIns="90000" bIns="45000" anchor="t">
            <a:normAutofit fontScale="85000" lnSpcReduction="9999"/>
          </a:bodyPr>
          <a:p>
            <a:pPr algn="ctr" defTabSz="914400">
              <a:lnSpc>
                <a:spcPct val="150000"/>
              </a:lnSpc>
            </a:pPr>
            <a:r>
              <a:rPr lang="en-US" sz="3200" b="1" u="none" strike="noStrike">
                <a:solidFill>
                  <a:schemeClr val="dk2"/>
                </a:solidFill>
                <a:effectLst/>
                <a:uFillTx/>
                <a:latin typeface="Times New Roman"/>
              </a:rPr>
              <a:t>3. Literature review</a:t>
            </a:r>
            <a:endParaRPr lang="en-GB" sz="3200" b="0" u="none" strike="noStrike">
              <a:solidFill>
                <a:srgbClr val="000000"/>
              </a:solidFill>
              <a:effectLst/>
              <a:uFillTx/>
              <a:latin typeface="Arial"/>
            </a:endParaRPr>
          </a:p>
          <a:p>
            <a:pPr algn="ctr" defTabSz="914400">
              <a:lnSpc>
                <a:spcPct val="150000"/>
              </a:lnSpc>
              <a:tabLst>
                <a:tab pos="0" algn="l"/>
              </a:tabLst>
            </a:pPr>
            <a:endParaRPr lang="en-GB" sz="3200" b="0" u="none" strike="noStrike">
              <a:solidFill>
                <a:srgbClr val="000000"/>
              </a:solidFill>
              <a:effectLst/>
              <a:uFillTx/>
              <a:latin typeface="Arial"/>
            </a:endParaRPr>
          </a:p>
        </p:txBody>
      </p:sp>
      <p:sp>
        <p:nvSpPr>
          <p:cNvPr id="112" name=""/>
          <p:cNvSpPr/>
          <p:nvPr/>
        </p:nvSpPr>
        <p:spPr>
          <a:xfrm>
            <a:off x="360000" y="744840"/>
            <a:ext cx="11518560" cy="583056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624"/>
              </a:spcBef>
              <a:spcAft>
                <a:spcPts val="425"/>
              </a:spcAft>
            </a:pPr>
            <a:r>
              <a:rPr lang="en-GB" sz="1400" b="0" u="none" strike="noStrike">
                <a:solidFill>
                  <a:srgbClr val="000000"/>
                </a:solidFill>
                <a:effectLst/>
                <a:uFillTx/>
                <a:latin typeface="Times New Roman"/>
              </a:rPr>
              <a:t>Several academic search platforms and AI-based retrieval systems have been developed to simplify research paper discovery. Google Scholar, IEEE Xplore, and Semantic Scholar provide access to a large number of research papers but primarily rely on keyword-based search and citation </a:t>
            </a:r>
            <a:r>
              <a:rPr lang="en-GB" sz="1500" b="0" u="none" strike="noStrike">
                <a:solidFill>
                  <a:srgbClr val="000000"/>
                </a:solidFill>
                <a:effectLst/>
                <a:uFillTx/>
                <a:latin typeface="Times New Roman"/>
              </a:rPr>
              <a:t>indexing.</a:t>
            </a:r>
            <a:endParaRPr lang="en-GB" sz="1500" b="0" u="none" strike="noStrike">
              <a:solidFill>
                <a:srgbClr val="000000"/>
              </a:solidFill>
              <a:effectLst/>
              <a:uFillTx/>
              <a:latin typeface="Arial"/>
            </a:endParaRPr>
          </a:p>
          <a:p>
            <a:pPr>
              <a:lnSpc>
                <a:spcPct val="100000"/>
              </a:lnSpc>
              <a:spcBef>
                <a:spcPts val="624"/>
              </a:spcBef>
              <a:spcAft>
                <a:spcPts val="425"/>
              </a:spcAft>
            </a:pPr>
            <a:endParaRPr lang="en-GB" sz="1000" b="0" u="none" strike="noStrike">
              <a:solidFill>
                <a:srgbClr val="000000"/>
              </a:solidFill>
              <a:effectLst/>
              <a:uFillTx/>
              <a:latin typeface="Arial"/>
            </a:endParaRPr>
          </a:p>
          <a:p>
            <a:pPr>
              <a:lnSpc>
                <a:spcPct val="100000"/>
              </a:lnSpc>
              <a:spcBef>
                <a:spcPts val="624"/>
              </a:spcBef>
              <a:spcAft>
                <a:spcPts val="425"/>
              </a:spcAft>
            </a:pPr>
            <a:endParaRPr lang="en-GB" sz="1000" b="0" u="none" strike="noStrike">
              <a:solidFill>
                <a:srgbClr val="000000"/>
              </a:solidFill>
              <a:effectLst/>
              <a:uFillTx/>
              <a:latin typeface="Arial"/>
            </a:endParaRPr>
          </a:p>
          <a:p>
            <a:pPr>
              <a:lnSpc>
                <a:spcPct val="100000"/>
              </a:lnSpc>
              <a:spcBef>
                <a:spcPts val="624"/>
              </a:spcBef>
              <a:spcAft>
                <a:spcPts val="425"/>
              </a:spcAft>
            </a:pPr>
            <a:endParaRPr lang="en-GB" sz="1200" b="0" u="none" strike="noStrike">
              <a:solidFill>
                <a:srgbClr val="000000"/>
              </a:solidFill>
              <a:effectLst/>
              <a:uFillTx/>
              <a:latin typeface="Arial"/>
            </a:endParaRPr>
          </a:p>
          <a:p>
            <a:pPr>
              <a:lnSpc>
                <a:spcPct val="100000"/>
              </a:lnSpc>
              <a:spcBef>
                <a:spcPts val="624"/>
              </a:spcBef>
              <a:spcAft>
                <a:spcPts val="425"/>
              </a:spcAft>
            </a:pPr>
            <a:endParaRPr lang="en-GB" sz="1200" b="0" u="none" strike="noStrike">
              <a:solidFill>
                <a:srgbClr val="000000"/>
              </a:solidFill>
              <a:effectLst/>
              <a:uFillTx/>
              <a:latin typeface="Arial"/>
            </a:endParaRPr>
          </a:p>
          <a:p>
            <a:pPr>
              <a:lnSpc>
                <a:spcPct val="100000"/>
              </a:lnSpc>
              <a:spcBef>
                <a:spcPts val="624"/>
              </a:spcBef>
              <a:spcAft>
                <a:spcPts val="425"/>
              </a:spcAft>
            </a:pPr>
            <a:endParaRPr lang="en-GB" sz="1200" b="0" u="none" strike="noStrike">
              <a:solidFill>
                <a:srgbClr val="000000"/>
              </a:solidFill>
              <a:effectLst/>
              <a:uFillTx/>
              <a:latin typeface="Arial"/>
            </a:endParaRPr>
          </a:p>
          <a:p>
            <a:pPr>
              <a:lnSpc>
                <a:spcPct val="100000"/>
              </a:lnSpc>
              <a:spcBef>
                <a:spcPts val="624"/>
              </a:spcBef>
              <a:spcAft>
                <a:spcPts val="425"/>
              </a:spcAft>
            </a:pPr>
            <a:endParaRPr lang="en-GB" sz="1200" b="0" u="none" strike="noStrike">
              <a:solidFill>
                <a:srgbClr val="000000"/>
              </a:solidFill>
              <a:effectLst/>
              <a:uFillTx/>
              <a:latin typeface="Arial"/>
            </a:endParaRPr>
          </a:p>
          <a:p>
            <a:pPr>
              <a:lnSpc>
                <a:spcPct val="100000"/>
              </a:lnSpc>
              <a:spcBef>
                <a:spcPts val="624"/>
              </a:spcBef>
              <a:spcAft>
                <a:spcPts val="425"/>
              </a:spcAft>
            </a:pPr>
            <a:endParaRPr lang="en-GB" sz="1200" b="0" u="none" strike="noStrike">
              <a:solidFill>
                <a:srgbClr val="000000"/>
              </a:solidFill>
              <a:effectLst/>
              <a:uFillTx/>
              <a:latin typeface="Arial"/>
            </a:endParaRPr>
          </a:p>
          <a:p>
            <a:pPr>
              <a:lnSpc>
                <a:spcPct val="100000"/>
              </a:lnSpc>
              <a:spcBef>
                <a:spcPts val="624"/>
              </a:spcBef>
              <a:spcAft>
                <a:spcPts val="425"/>
              </a:spcAft>
            </a:pPr>
            <a:endParaRPr lang="en-GB" sz="1200" b="0" u="none" strike="noStrike">
              <a:solidFill>
                <a:srgbClr val="000000"/>
              </a:solidFill>
              <a:effectLst/>
              <a:uFillTx/>
              <a:latin typeface="Arial"/>
            </a:endParaRPr>
          </a:p>
          <a:p>
            <a:pPr>
              <a:lnSpc>
                <a:spcPct val="100000"/>
              </a:lnSpc>
              <a:spcBef>
                <a:spcPts val="624"/>
              </a:spcBef>
              <a:spcAft>
                <a:spcPts val="425"/>
              </a:spcAft>
            </a:pPr>
            <a:endParaRPr lang="en-GB" sz="1200" b="0" u="none" strike="noStrike">
              <a:solidFill>
                <a:srgbClr val="000000"/>
              </a:solidFill>
              <a:effectLst/>
              <a:uFillTx/>
              <a:latin typeface="Arial"/>
            </a:endParaRPr>
          </a:p>
          <a:p>
            <a:pPr>
              <a:lnSpc>
                <a:spcPct val="100000"/>
              </a:lnSpc>
              <a:spcBef>
                <a:spcPts val="624"/>
              </a:spcBef>
              <a:spcAft>
                <a:spcPts val="425"/>
              </a:spcAft>
            </a:pPr>
            <a:endParaRPr lang="en-GB" sz="1200" b="0" u="none" strike="noStrike">
              <a:solidFill>
                <a:srgbClr val="000000"/>
              </a:solidFill>
              <a:effectLst/>
              <a:uFillTx/>
              <a:latin typeface="Arial"/>
            </a:endParaRPr>
          </a:p>
          <a:p>
            <a:pPr>
              <a:lnSpc>
                <a:spcPct val="100000"/>
              </a:lnSpc>
              <a:spcBef>
                <a:spcPts val="624"/>
              </a:spcBef>
              <a:spcAft>
                <a:spcPts val="425"/>
              </a:spcAft>
            </a:pPr>
            <a:endParaRPr lang="en-GB" sz="1200" b="0" u="none" strike="noStrike">
              <a:solidFill>
                <a:srgbClr val="000000"/>
              </a:solidFill>
              <a:effectLst/>
              <a:uFillTx/>
              <a:latin typeface="Arial"/>
            </a:endParaRPr>
          </a:p>
          <a:p>
            <a:pPr>
              <a:lnSpc>
                <a:spcPct val="100000"/>
              </a:lnSpc>
              <a:spcBef>
                <a:spcPts val="624"/>
              </a:spcBef>
              <a:spcAft>
                <a:spcPts val="425"/>
              </a:spcAft>
            </a:pPr>
            <a:endParaRPr lang="en-GB" sz="1200" b="0" u="none" strike="noStrike">
              <a:solidFill>
                <a:srgbClr val="000000"/>
              </a:solidFill>
              <a:effectLst/>
              <a:uFillTx/>
              <a:latin typeface="Arial"/>
            </a:endParaRPr>
          </a:p>
          <a:p>
            <a:pPr>
              <a:lnSpc>
                <a:spcPct val="100000"/>
              </a:lnSpc>
              <a:spcBef>
                <a:spcPts val="624"/>
              </a:spcBef>
              <a:spcAft>
                <a:spcPts val="425"/>
              </a:spcAft>
            </a:pPr>
            <a:endParaRPr lang="en-GB" sz="1200" b="0" u="none" strike="noStrike">
              <a:solidFill>
                <a:srgbClr val="000000"/>
              </a:solidFill>
              <a:effectLst/>
              <a:uFillTx/>
              <a:latin typeface="Arial"/>
            </a:endParaRPr>
          </a:p>
          <a:p>
            <a:pPr>
              <a:lnSpc>
                <a:spcPct val="100000"/>
              </a:lnSpc>
              <a:spcBef>
                <a:spcPts val="624"/>
              </a:spcBef>
              <a:spcAft>
                <a:spcPts val="425"/>
              </a:spcAft>
            </a:pPr>
            <a:endParaRPr lang="en-GB" sz="1200" b="0" u="none" strike="noStrike">
              <a:solidFill>
                <a:srgbClr val="000000"/>
              </a:solidFill>
              <a:effectLst/>
              <a:uFillTx/>
              <a:latin typeface="Arial"/>
            </a:endParaRPr>
          </a:p>
          <a:p>
            <a:pPr>
              <a:lnSpc>
                <a:spcPct val="100000"/>
              </a:lnSpc>
              <a:spcBef>
                <a:spcPts val="624"/>
              </a:spcBef>
              <a:spcAft>
                <a:spcPts val="425"/>
              </a:spcAft>
            </a:pPr>
            <a:r>
              <a:rPr lang="en-GB" sz="1000" b="0" u="none" strike="noStrike">
                <a:solidFill>
                  <a:srgbClr val="000000"/>
                </a:solidFill>
                <a:effectLst/>
                <a:uFillTx/>
                <a:latin typeface="Arial"/>
              </a:rPr>
              <a:t> </a:t>
            </a:r>
            <a:endParaRPr lang="en-GB" sz="1000" b="0" u="none" strike="noStrike">
              <a:solidFill>
                <a:srgbClr val="000000"/>
              </a:solidFill>
              <a:effectLst/>
              <a:uFillTx/>
              <a:latin typeface="Arial"/>
            </a:endParaRPr>
          </a:p>
          <a:p>
            <a:pPr>
              <a:lnSpc>
                <a:spcPct val="100000"/>
              </a:lnSpc>
              <a:spcBef>
                <a:spcPts val="624"/>
              </a:spcBef>
              <a:spcAft>
                <a:spcPts val="425"/>
              </a:spcAft>
            </a:pPr>
            <a:r>
              <a:rPr lang="en-GB" sz="1500" b="0" u="none" strike="noStrike">
                <a:solidFill>
                  <a:srgbClr val="000000"/>
                </a:solidFill>
                <a:effectLst/>
                <a:uFillTx/>
                <a:latin typeface="Arial"/>
              </a:rPr>
              <a:t>     </a:t>
            </a:r>
            <a:r>
              <a:rPr lang="en-GB" sz="1200" b="0" u="none" strike="noStrike">
                <a:solidFill>
                  <a:srgbClr val="000000"/>
                </a:solidFill>
                <a:effectLst/>
                <a:uFillTx/>
                <a:latin typeface="Arial"/>
              </a:rPr>
              <a:t>.</a:t>
            </a:r>
            <a:endParaRPr lang="en-GB" sz="1200" b="0" u="none" strike="noStrike">
              <a:solidFill>
                <a:srgbClr val="000000"/>
              </a:solidFill>
              <a:effectLst/>
              <a:uFillTx/>
              <a:latin typeface="Arial"/>
            </a:endParaRPr>
          </a:p>
          <a:p>
            <a:pPr>
              <a:lnSpc>
                <a:spcPct val="100000"/>
              </a:lnSpc>
              <a:spcBef>
                <a:spcPts val="624"/>
              </a:spcBef>
              <a:spcAft>
                <a:spcPts val="425"/>
              </a:spcAft>
            </a:pPr>
            <a:endParaRPr lang="en-GB" sz="1000" b="0" u="none" strike="noStrike">
              <a:solidFill>
                <a:srgbClr val="000000"/>
              </a:solidFill>
              <a:effectLst/>
              <a:uFillTx/>
              <a:latin typeface="Arial"/>
            </a:endParaRPr>
          </a:p>
        </p:txBody>
      </p:sp>
      <p:graphicFrame>
        <p:nvGraphicFramePr>
          <p:cNvPr id="113" name=""/>
          <p:cNvGraphicFramePr/>
          <p:nvPr/>
        </p:nvGraphicFramePr>
        <p:xfrm>
          <a:off x="519120" y="1341000"/>
          <a:ext cx="11359080" cy="4834080"/>
        </p:xfrm>
        <a:graphic>
          <a:graphicData uri="http://schemas.openxmlformats.org/drawingml/2006/table">
            <a:tbl>
              <a:tblPr/>
              <a:tblGrid>
                <a:gridCol w="1487520"/>
                <a:gridCol w="1641240"/>
                <a:gridCol w="2770560"/>
                <a:gridCol w="2484720"/>
                <a:gridCol w="2975400"/>
              </a:tblGrid>
              <a:tr h="465480">
                <a:tc>
                  <a:txBody>
                    <a:bodyPr lIns="36000" tIns="36000" rIns="36000" bIns="36000" anchor="t">
                      <a:noAutofit/>
                    </a:bodyPr>
                    <a:p>
                      <a:r>
                        <a:rPr lang="en-GB" sz="1400" b="1" u="none" strike="noStrike">
                          <a:solidFill>
                            <a:srgbClr val="C00000"/>
                          </a:solidFill>
                          <a:effectLst/>
                          <a:uFillTx/>
                          <a:latin typeface="Times New Roman"/>
                        </a:rPr>
                        <a:t>Author(s) / Year</a:t>
                      </a:r>
                      <a:endParaRPr lang="en-GB" sz="1400" b="1" u="none" strike="noStrike">
                        <a:solidFill>
                          <a:srgbClr val="C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400" b="1" u="none" strike="noStrike">
                          <a:solidFill>
                            <a:srgbClr val="C00000"/>
                          </a:solidFill>
                          <a:effectLst/>
                          <a:uFillTx/>
                          <a:latin typeface="Times New Roman"/>
                        </a:rPr>
                        <a:t>Title / Focus of Study</a:t>
                      </a:r>
                      <a:endParaRPr lang="en-GB" sz="1400" b="1" u="none" strike="noStrike">
                        <a:solidFill>
                          <a:srgbClr val="C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400" b="1" u="none" strike="noStrike">
                          <a:solidFill>
                            <a:srgbClr val="C00000"/>
                          </a:solidFill>
                          <a:effectLst/>
                          <a:uFillTx/>
                          <a:latin typeface="Times New Roman"/>
                        </a:rPr>
                        <a:t>Methodology</a:t>
                      </a:r>
                      <a:endParaRPr lang="en-GB" sz="1400" b="1" u="none" strike="noStrike">
                        <a:solidFill>
                          <a:srgbClr val="C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400" b="1" u="none" strike="noStrike">
                          <a:solidFill>
                            <a:srgbClr val="C00000"/>
                          </a:solidFill>
                          <a:effectLst/>
                          <a:uFillTx/>
                          <a:latin typeface="Times New Roman"/>
                        </a:rPr>
                        <a:t>Key Findings</a:t>
                      </a:r>
                      <a:endParaRPr lang="en-GB" sz="1400" b="1" u="none" strike="noStrike">
                        <a:solidFill>
                          <a:srgbClr val="C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400" b="1" u="none" strike="noStrike">
                          <a:solidFill>
                            <a:srgbClr val="C00000"/>
                          </a:solidFill>
                          <a:effectLst/>
                          <a:uFillTx/>
                          <a:latin typeface="Times New Roman"/>
                        </a:rPr>
                        <a:t>Research Gap / Limitation</a:t>
                      </a:r>
                      <a:endParaRPr lang="en-GB" sz="1400" b="1" u="none" strike="noStrike">
                        <a:solidFill>
                          <a:srgbClr val="C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161000">
                <a:tc>
                  <a:txBody>
                    <a:bodyPr lIns="36000" tIns="36000" rIns="36000" bIns="36000" anchor="t">
                      <a:noAutofit/>
                    </a:bodyPr>
                    <a:p>
                      <a:r>
                        <a:rPr lang="en-GB" sz="1100" b="1" u="none" strike="noStrike">
                          <a:solidFill>
                            <a:srgbClr val="000000"/>
                          </a:solidFill>
                          <a:effectLst/>
                          <a:uFillTx/>
                          <a:latin typeface="Times New Roman"/>
                        </a:rPr>
                        <a:t>XGraphRAG Authors (2025)</a:t>
                      </a:r>
                      <a:endParaRPr lang="en-GB" sz="1100" b="1"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i="1" u="none" strike="noStrike">
                          <a:solidFill>
                            <a:srgbClr val="000000"/>
                          </a:solidFill>
                          <a:effectLst/>
                          <a:uFillTx/>
                          <a:latin typeface="Times New Roman"/>
                        </a:rPr>
                        <a:t>XGraphRAG: Interactive Visual Analysis for Graph-based Retrieval-Augmented Generation</a:t>
                      </a:r>
                      <a:endParaRPr lang="en-GB" sz="1300" b="0" i="1"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000000"/>
                          </a:solidFill>
                          <a:effectLst/>
                          <a:uFillTx/>
                          <a:latin typeface="Times New Roman"/>
                        </a:rPr>
                        <a:t>The framework provides interactive visual analysis of GraphRAG pipelines, allowing retrieval results to be traced through graph construction and query processing.</a:t>
                      </a:r>
                      <a:endParaRPr lang="en-GB" sz="1300" b="0"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000000"/>
                          </a:solidFill>
                          <a:effectLst/>
                          <a:uFillTx/>
                          <a:latin typeface="Times New Roman"/>
                        </a:rPr>
                        <a:t>The study demonstrates that visual analysis can help users understand GraphRAG retrieval behavior, identify critical retrieval cases, and analyze opportunities for improvement.</a:t>
                      </a:r>
                      <a:endParaRPr lang="en-GB" sz="1300" b="0"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000000"/>
                          </a:solidFill>
                          <a:effectLst/>
                          <a:uFillTx/>
                          <a:latin typeface="Times New Roman"/>
                        </a:rPr>
                        <a:t>The work focuses on GraphRAG analysis and visualization rather than an end-to-end academic research intelligence platform for paper discovery, comparison, and research-gap identification.</a:t>
                      </a:r>
                      <a:endParaRPr lang="en-GB" sz="1300" b="0"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161000">
                <a:tc>
                  <a:txBody>
                    <a:bodyPr lIns="36000" tIns="36000" rIns="36000" bIns="36000" anchor="t">
                      <a:noAutofit/>
                    </a:bodyPr>
                    <a:p>
                      <a:r>
                        <a:rPr lang="en-GB" sz="1100" b="1" u="none" strike="noStrike">
                          <a:solidFill>
                            <a:srgbClr val="000000"/>
                          </a:solidFill>
                          <a:effectLst/>
                          <a:uFillTx/>
                          <a:latin typeface="Times New Roman"/>
                        </a:rPr>
                        <a:t>IEEE ICTBAI Authors (2025)</a:t>
                      </a:r>
                      <a:endParaRPr lang="en-GB" sz="1100" b="1"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i="1" u="none" strike="noStrike">
                          <a:solidFill>
                            <a:srgbClr val="000000"/>
                          </a:solidFill>
                          <a:effectLst/>
                          <a:uFillTx/>
                          <a:latin typeface="Times New Roman"/>
                        </a:rPr>
                        <a:t>A Survey of Retrieval-Augmented Generation (RAG) for Large Language Models</a:t>
                      </a:r>
                      <a:endParaRPr lang="en-GB" sz="1300" b="0" i="1"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000000"/>
                          </a:solidFill>
                          <a:effectLst/>
                          <a:uFillTx/>
                          <a:latin typeface="Times New Roman"/>
                        </a:rPr>
                        <a:t>The study reviews RAG architectures and discusses retrieval, augmentation, and generation mechanisms used to provide external knowledge to Large Language Models.</a:t>
                      </a:r>
                      <a:endParaRPr lang="en-GB" sz="1300" b="0"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000000"/>
                          </a:solidFill>
                          <a:effectLst/>
                          <a:uFillTx/>
                          <a:latin typeface="Times New Roman"/>
                        </a:rPr>
                        <a:t>The survey highlights the importance of retrieval quality and external knowledge in improving grounded LLM responses and reducing hallucination-related problems.</a:t>
                      </a:r>
                      <a:endParaRPr lang="en-GB" sz="1300" b="0"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000000"/>
                          </a:solidFill>
                          <a:effectLst/>
                          <a:uFillTx/>
                          <a:latin typeface="Times New Roman"/>
                        </a:rPr>
                        <a:t>The study is a general RAG survey and does not specifically address Knowledge Graph integration for academic research exploration.</a:t>
                      </a:r>
                      <a:endParaRPr lang="en-GB" sz="1300" b="0"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979560">
                <a:tc>
                  <a:txBody>
                    <a:bodyPr lIns="36000" tIns="36000" rIns="36000" bIns="36000" anchor="t">
                      <a:noAutofit/>
                    </a:bodyPr>
                    <a:p>
                      <a:r>
                        <a:rPr lang="en-GB" sz="1100" b="1" u="none" strike="noStrike">
                          <a:solidFill>
                            <a:srgbClr val="000000"/>
                          </a:solidFill>
                          <a:effectLst/>
                          <a:uFillTx/>
                          <a:latin typeface="Times New Roman"/>
                        </a:rPr>
                        <a:t>S. Pan et al. (2024)</a:t>
                      </a:r>
                      <a:endParaRPr lang="en-GB" sz="1100" b="1"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i="1" u="none" strike="noStrike">
                          <a:solidFill>
                            <a:srgbClr val="000000"/>
                          </a:solidFill>
                          <a:effectLst/>
                          <a:uFillTx/>
                          <a:latin typeface="Times New Roman"/>
                        </a:rPr>
                        <a:t>Unifying Large Language Models and Knowledge Graphs: A Roadmap</a:t>
                      </a:r>
                      <a:endParaRPr lang="en-GB" sz="1300" b="0" i="1"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000000"/>
                          </a:solidFill>
                          <a:effectLst/>
                          <a:uFillTx/>
                          <a:latin typeface="Times New Roman"/>
                        </a:rPr>
                        <a:t>The authors review approaches for integrating LLMs and Knowledge Graphs and categorize them according to how LLMs and KGs support and enhance each other.</a:t>
                      </a:r>
                      <a:endParaRPr lang="en-GB" sz="1300" b="0"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000000"/>
                          </a:solidFill>
                          <a:effectLst/>
                          <a:uFillTx/>
                          <a:latin typeface="Times New Roman"/>
                        </a:rPr>
                        <a:t>The study shows that combining LLMs with Knowledge Graphs can support factual grounding, reasoning, knowledge construction, and question answering.</a:t>
                      </a:r>
                      <a:endParaRPr lang="en-GB" sz="1300" b="0"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000000"/>
                          </a:solidFill>
                          <a:effectLst/>
                          <a:uFillTx/>
                          <a:latin typeface="Times New Roman"/>
                        </a:rPr>
                        <a:t>It provides a broad roadmap and conceptual framework rather than a complete academic research platform evaluated on scholarly datasets.</a:t>
                      </a:r>
                      <a:endParaRPr lang="en-GB" sz="1300" b="0"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161000">
                <a:tc>
                  <a:txBody>
                    <a:bodyPr lIns="36000" tIns="36000" rIns="36000" bIns="36000" anchor="t">
                      <a:noAutofit/>
                    </a:bodyPr>
                    <a:p>
                      <a:r>
                        <a:rPr lang="en-GB" sz="1100" b="1" u="none" strike="noStrike">
                          <a:solidFill>
                            <a:srgbClr val="000000"/>
                          </a:solidFill>
                          <a:effectLst/>
                          <a:uFillTx/>
                          <a:latin typeface="Times New Roman"/>
                        </a:rPr>
                        <a:t>T. T. Procko and O. Ochoa (2024)</a:t>
                      </a:r>
                      <a:endParaRPr lang="en-GB" sz="1100" b="1"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i="1" u="none" strike="noStrike">
                          <a:solidFill>
                            <a:srgbClr val="000000"/>
                          </a:solidFill>
                          <a:effectLst/>
                          <a:uFillTx/>
                          <a:latin typeface="Times New Roman"/>
                        </a:rPr>
                        <a:t>Graph Retrieval-Augmented Generation for Large Language Models: A Survey</a:t>
                      </a:r>
                      <a:endParaRPr lang="en-GB" sz="1300" b="0" i="1"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000000"/>
                          </a:solidFill>
                          <a:effectLst/>
                          <a:uFillTx/>
                          <a:latin typeface="Times New Roman"/>
                        </a:rPr>
                        <a:t>The authors analyze GraphRAG approaches that combine graph structures with Retrieval-Augmented Generation to improve retrieval and reasoning. Different graph retrieval and reasoning strategies are discussed.</a:t>
                      </a:r>
                      <a:endParaRPr lang="en-GB" sz="1300" b="0"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000000"/>
                          </a:solidFill>
                          <a:effectLst/>
                          <a:uFillTx/>
                          <a:latin typeface="Times New Roman"/>
                        </a:rPr>
                        <a:t>The survey indicates that graph-based retrieval can provide structured context and support complex or multi-hop reasoning beyond conventional vector retrieval.</a:t>
                      </a:r>
                      <a:endParaRPr lang="en-GB" sz="1300" b="0"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GB" sz="1300" b="0" u="none" strike="noStrike">
                          <a:solidFill>
                            <a:srgbClr val="000000"/>
                          </a:solidFill>
                          <a:effectLst/>
                          <a:uFillTx/>
                          <a:latin typeface="Times New Roman"/>
                        </a:rPr>
                        <a:t>The reviewed approaches are general-purpose and do not specifically provide a complete platform for academic paper relationships, literature review, and research-gap analysis.</a:t>
                      </a:r>
                      <a:endParaRPr lang="en-GB" sz="1300" b="0" u="none" strike="noStrike">
                        <a:solidFill>
                          <a:srgbClr val="000000"/>
                        </a:solidFill>
                        <a:effectLst/>
                        <a:uFillTx/>
                        <a:latin typeface="Times New Roman"/>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3" name="PlaceHolder 2"/>
          <p:cNvSpPr>
            <a:spLocks noGrp="1"/>
          </p:cNvSpPr>
          <p:nvPr>
            <p:ph type="ftr" idx="26"/>
          </p:nvPr>
        </p:nvSpPr>
        <p:spPr/>
        <p:txBody>
          <a:bodyPr/>
          <a:p>
            <a:r>
              <a:t>IV B.Tech (CSE) – Major Project Presentation Review-1</a:t>
            </a:r>
          </a:p>
        </p:txBody>
      </p:sp>
      <p:sp>
        <p:nvSpPr>
          <p:cNvPr id="4" name="PlaceHolder 3"/>
          <p:cNvSpPr>
            <a:spLocks noGrp="1"/>
          </p:cNvSpPr>
          <p:nvPr>
            <p:ph type="sldNum" idx="27"/>
          </p:nvPr>
        </p:nvSpPr>
        <p:spPr/>
        <p:txBody>
          <a:bodyPr/>
          <a:p>
            <a:fld id="{37280405-914A-4462-93B0-B769C3BD32C6}"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p:nvPr>
        </p:nvSpPr>
        <p:spPr>
          <a:xfrm>
            <a:off x="838080" y="1147680"/>
            <a:ext cx="10513800" cy="5027400"/>
          </a:xfrm>
          <a:prstGeom prst="rect">
            <a:avLst/>
          </a:prstGeom>
          <a:noFill/>
          <a:ln w="0">
            <a:noFill/>
          </a:ln>
        </p:spPr>
        <p:txBody>
          <a:bodyPr lIns="91440" tIns="45720" rIns="91440" bIns="45720" anchor="t">
            <a:no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115" name="PlaceHolder 2"/>
          <p:cNvSpPr>
            <a:spLocks noGrp="1"/>
          </p:cNvSpPr>
          <p:nvPr>
            <p:ph type="ftr" idx="43"/>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IV B.Tech (CSE) – Major Project Presentation Review-1</a:t>
            </a:r>
            <a:endParaRPr lang="en-GB" sz="1200" b="0" u="none" strike="noStrike">
              <a:solidFill>
                <a:srgbClr val="000000"/>
              </a:solidFill>
              <a:effectLst/>
              <a:uFillTx/>
              <a:latin typeface="Times New Roman"/>
            </a:endParaRPr>
          </a:p>
        </p:txBody>
      </p:sp>
      <p:sp>
        <p:nvSpPr>
          <p:cNvPr id="116" name="Rectangle 4"/>
          <p:cNvSpPr/>
          <p:nvPr/>
        </p:nvSpPr>
        <p:spPr>
          <a:xfrm>
            <a:off x="0" y="0"/>
            <a:ext cx="12190320" cy="682200"/>
          </a:xfrm>
          <a:prstGeom prst="rect">
            <a:avLst/>
          </a:prstGeom>
          <a:solidFill>
            <a:schemeClr val="accent6">
              <a:lumMod val="20000"/>
              <a:lumOff val="80000"/>
            </a:schemeClr>
          </a:solidFill>
          <a:ln w="0">
            <a:noFill/>
          </a:ln>
        </p:spPr>
        <p:style>
          <a:lnRef idx="0"/>
          <a:fillRef idx="0"/>
          <a:effectRef idx="0"/>
          <a:fontRef idx="minor"/>
        </p:style>
        <p:txBody>
          <a:bodyPr lIns="90000" tIns="45000" rIns="90000" bIns="45000" anchor="t">
            <a:normAutofit fontScale="85000" lnSpcReduction="9999"/>
          </a:bodyPr>
          <a:p>
            <a:pPr algn="ctr" defTabSz="914400">
              <a:lnSpc>
                <a:spcPct val="150000"/>
              </a:lnSpc>
            </a:pPr>
            <a:r>
              <a:rPr lang="en-US" sz="3200" b="1" u="none" strike="noStrike">
                <a:solidFill>
                  <a:schemeClr val="dk2"/>
                </a:solidFill>
                <a:effectLst/>
                <a:uFillTx/>
                <a:latin typeface="Times New Roman"/>
              </a:rPr>
              <a:t>4.Research gaps and proposed solution</a:t>
            </a:r>
            <a:endParaRPr lang="en-GB" sz="3200" b="0" u="none" strike="noStrike">
              <a:solidFill>
                <a:srgbClr val="000000"/>
              </a:solidFill>
              <a:effectLst/>
              <a:uFillTx/>
              <a:latin typeface="Arial"/>
            </a:endParaRPr>
          </a:p>
        </p:txBody>
      </p:sp>
      <p:sp>
        <p:nvSpPr>
          <p:cNvPr id="117" name=""/>
          <p:cNvSpPr/>
          <p:nvPr/>
        </p:nvSpPr>
        <p:spPr>
          <a:xfrm>
            <a:off x="360000" y="1260000"/>
            <a:ext cx="11518560" cy="378144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907"/>
              </a:spcBef>
              <a:spcAft>
                <a:spcPts val="709"/>
              </a:spcAft>
            </a:pPr>
            <a:r>
              <a:rPr lang="en-GB" sz="1800" b="1" u="none" strike="noStrike">
                <a:solidFill>
                  <a:srgbClr val="000000"/>
                </a:solidFill>
                <a:effectLst/>
                <a:uFillTx/>
                <a:latin typeface="Times New Roman"/>
              </a:rPr>
              <a:t>Research Gap</a:t>
            </a:r>
            <a:endParaRPr lang="en-GB" sz="18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Although several academic search platforms and AI-based retrieval systems have been developed, they still have several limitations that affect efficient academic research.</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Existing systems mainly rely on keyword-based or semantic retrieval techniques.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Relationships among research papers, authors, datasets, algorithms, and research domains are not explicitly represented.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Most platforms do not automatically identify research gaps or provide comprehensive literature review generation.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Existing RAG systems retrieve relevant documents but lack graph-based reasoning for understanding complex relationships.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Researchers still spend significant time manually comparing papers and identifying future research directions. </a:t>
            </a:r>
            <a:endParaRPr lang="en-GB" sz="1600" b="0" u="none" strike="noStrike">
              <a:solidFill>
                <a:srgbClr val="000000"/>
              </a:solidFill>
              <a:effectLst/>
              <a:uFillTx/>
              <a:latin typeface="Arial"/>
            </a:endParaRPr>
          </a:p>
          <a:p>
            <a:pPr>
              <a:lnSpc>
                <a:spcPct val="100000"/>
              </a:lnSpc>
              <a:spcBef>
                <a:spcPts val="907"/>
              </a:spcBef>
              <a:spcAft>
                <a:spcPts val="709"/>
              </a:spcAft>
            </a:pPr>
            <a:endParaRPr lang="en-GB" sz="1800" b="0" u="none" strike="noStrike">
              <a:solidFill>
                <a:srgbClr val="000000"/>
              </a:solidFill>
              <a:effectLst/>
              <a:uFillTx/>
              <a:latin typeface="Arial"/>
            </a:endParaRPr>
          </a:p>
        </p:txBody>
      </p:sp>
      <p:sp>
        <p:nvSpPr>
          <p:cNvPr id="4" name="PlaceHolder 3"/>
          <p:cNvSpPr>
            <a:spLocks noGrp="1"/>
          </p:cNvSpPr>
          <p:nvPr>
            <p:ph type="sldNum" idx="24"/>
          </p:nvPr>
        </p:nvSpPr>
        <p:spPr/>
        <p:txBody>
          <a:bodyPr/>
          <a:p>
            <a:fld id="{E5D4EC1E-BFC7-4C2F-8784-6C93C6752395}"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p:nvPr>
        </p:nvSpPr>
        <p:spPr>
          <a:xfrm>
            <a:off x="838080" y="1147680"/>
            <a:ext cx="10513800" cy="5027400"/>
          </a:xfrm>
          <a:prstGeom prst="rect">
            <a:avLst/>
          </a:prstGeom>
          <a:noFill/>
          <a:ln w="0">
            <a:noFill/>
          </a:ln>
        </p:spPr>
        <p:txBody>
          <a:bodyPr lIns="91440" tIns="45720" rIns="91440" bIns="45720" anchor="t">
            <a:no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119" name="PlaceHolder 2"/>
          <p:cNvSpPr>
            <a:spLocks noGrp="1"/>
          </p:cNvSpPr>
          <p:nvPr>
            <p:ph type="ftr" idx="44"/>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IV B.Tech (CSE) – Major Project Presentation Review-1</a:t>
            </a:r>
            <a:endParaRPr lang="en-GB" sz="1200" b="0" u="none" strike="noStrike">
              <a:solidFill>
                <a:srgbClr val="000000"/>
              </a:solidFill>
              <a:effectLst/>
              <a:uFillTx/>
              <a:latin typeface="Times New Roman"/>
            </a:endParaRPr>
          </a:p>
        </p:txBody>
      </p:sp>
      <p:sp>
        <p:nvSpPr>
          <p:cNvPr id="120" name="Rectangle 1"/>
          <p:cNvSpPr/>
          <p:nvPr/>
        </p:nvSpPr>
        <p:spPr>
          <a:xfrm>
            <a:off x="0" y="0"/>
            <a:ext cx="12190320" cy="682200"/>
          </a:xfrm>
          <a:prstGeom prst="rect">
            <a:avLst/>
          </a:prstGeom>
          <a:solidFill>
            <a:schemeClr val="accent6">
              <a:lumMod val="20000"/>
              <a:lumOff val="80000"/>
            </a:schemeClr>
          </a:solidFill>
          <a:ln w="0">
            <a:noFill/>
          </a:ln>
        </p:spPr>
        <p:style>
          <a:lnRef idx="0"/>
          <a:fillRef idx="0"/>
          <a:effectRef idx="0"/>
          <a:fontRef idx="minor"/>
        </p:style>
        <p:txBody>
          <a:bodyPr lIns="90000" tIns="45000" rIns="90000" bIns="45000" anchor="t">
            <a:normAutofit fontScale="85000" lnSpcReduction="9999"/>
          </a:bodyPr>
          <a:p>
            <a:pPr algn="ctr" defTabSz="914400">
              <a:lnSpc>
                <a:spcPct val="150000"/>
              </a:lnSpc>
            </a:pPr>
            <a:r>
              <a:rPr lang="en-US" sz="3200" b="1" u="none" strike="noStrike">
                <a:solidFill>
                  <a:schemeClr val="dk2"/>
                </a:solidFill>
                <a:effectLst/>
                <a:uFillTx/>
                <a:latin typeface="Times New Roman"/>
              </a:rPr>
              <a:t>4.Research gaps and proposed solution</a:t>
            </a:r>
            <a:endParaRPr lang="en-GB" sz="3200" b="0" u="none" strike="noStrike">
              <a:solidFill>
                <a:srgbClr val="000000"/>
              </a:solidFill>
              <a:effectLst/>
              <a:uFillTx/>
              <a:latin typeface="Arial"/>
            </a:endParaRPr>
          </a:p>
        </p:txBody>
      </p:sp>
      <p:sp>
        <p:nvSpPr>
          <p:cNvPr id="121" name=""/>
          <p:cNvSpPr/>
          <p:nvPr/>
        </p:nvSpPr>
        <p:spPr>
          <a:xfrm>
            <a:off x="360000" y="1260000"/>
            <a:ext cx="11518560" cy="509760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907"/>
              </a:spcBef>
              <a:spcAft>
                <a:spcPts val="709"/>
              </a:spcAft>
            </a:pPr>
            <a:r>
              <a:rPr lang="en-GB" sz="1800" b="1" u="none" strike="noStrike">
                <a:solidFill>
                  <a:srgbClr val="000000"/>
                </a:solidFill>
                <a:effectLst/>
                <a:uFillTx/>
                <a:latin typeface="Times New Roman"/>
              </a:rPr>
              <a:t>Proposed Solution</a:t>
            </a:r>
            <a:endParaRPr lang="en-GB" sz="1800" b="0" u="none" strike="noStrike">
              <a:solidFill>
                <a:srgbClr val="000000"/>
              </a:solidFill>
              <a:effectLst/>
              <a:uFillTx/>
              <a:latin typeface="Arial"/>
            </a:endParaRPr>
          </a:p>
          <a:p>
            <a:pPr>
              <a:lnSpc>
                <a:spcPct val="100000"/>
              </a:lnSpc>
              <a:spcBef>
                <a:spcPts val="907"/>
              </a:spcBef>
              <a:spcAft>
                <a:spcPts val="709"/>
              </a:spcAft>
            </a:pPr>
            <a:r>
              <a:rPr lang="en-GB" sz="1600" b="0" u="none" strike="noStrike">
                <a:solidFill>
                  <a:srgbClr val="000000"/>
                </a:solidFill>
                <a:effectLst/>
                <a:uFillTx/>
                <a:latin typeface="Times New Roman"/>
              </a:rPr>
              <a:t>To overcome these limitations, ResearchGraph AI integrates Knowledge Graphs, Vector Databases, GraphRAG, and Large Language Models into a unified academic research platform.</a:t>
            </a:r>
            <a:endParaRPr lang="en-GB" sz="1600" b="0" u="none" strike="noStrike">
              <a:solidFill>
                <a:srgbClr val="000000"/>
              </a:solidFill>
              <a:effectLst/>
              <a:uFillTx/>
              <a:latin typeface="Arial"/>
            </a:endParaRPr>
          </a:p>
          <a:p>
            <a:pPr>
              <a:lnSpc>
                <a:spcPct val="100000"/>
              </a:lnSpc>
              <a:spcBef>
                <a:spcPts val="907"/>
              </a:spcBef>
              <a:spcAft>
                <a:spcPts val="709"/>
              </a:spcAft>
            </a:pPr>
            <a:r>
              <a:rPr lang="en-GB" sz="1600" b="1" u="none" strike="noStrike">
                <a:solidFill>
                  <a:srgbClr val="000000"/>
                </a:solidFill>
                <a:effectLst/>
                <a:uFillTx/>
                <a:latin typeface="Times New Roman"/>
              </a:rPr>
              <a:t>Key Features</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Automatic collection of research papers from OpenAlex and arXiv.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Semantic retrieval using ChromaDB vector database.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Knowledge Graph construction using Neo4j.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Hybrid retrieval using GraphRAG.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AI-powered, citation-supported responses using Gemini / Llama 3.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Interactive visualization of relationships among research entities. </a:t>
            </a:r>
            <a:endParaRPr lang="en-GB" sz="1600" b="0" u="none" strike="noStrike">
              <a:solidFill>
                <a:srgbClr val="000000"/>
              </a:solidFill>
              <a:effectLst/>
              <a:uFillTx/>
              <a:latin typeface="Arial"/>
            </a:endParaRPr>
          </a:p>
          <a:p>
            <a:pPr marL="216000" indent="-216000">
              <a:lnSpc>
                <a:spcPct val="100000"/>
              </a:lnSpc>
              <a:spcBef>
                <a:spcPts val="907"/>
              </a:spcBef>
              <a:spcAft>
                <a:spcPts val="709"/>
              </a:spcAft>
              <a:buClr>
                <a:srgbClr val="000000"/>
              </a:buClr>
              <a:buSzPct val="45000"/>
              <a:buFont typeface="Wingdings" charset="2"/>
              <a:buChar char=""/>
            </a:pPr>
            <a:r>
              <a:rPr lang="en-GB" sz="1600" b="0" u="none" strike="noStrike">
                <a:solidFill>
                  <a:srgbClr val="000000"/>
                </a:solidFill>
                <a:effectLst/>
                <a:uFillTx/>
                <a:latin typeface="Times New Roman"/>
              </a:rPr>
              <a:t>Automatic literature review generation and research gap identification. </a:t>
            </a:r>
            <a:endParaRPr lang="en-GB" sz="1600" b="0" u="none" strike="noStrike">
              <a:solidFill>
                <a:srgbClr val="000000"/>
              </a:solidFill>
              <a:effectLst/>
              <a:uFillTx/>
              <a:latin typeface="Arial"/>
            </a:endParaRPr>
          </a:p>
          <a:p>
            <a:pPr>
              <a:lnSpc>
                <a:spcPct val="100000"/>
              </a:lnSpc>
              <a:spcBef>
                <a:spcPts val="907"/>
              </a:spcBef>
              <a:spcAft>
                <a:spcPts val="709"/>
              </a:spcAft>
            </a:pPr>
            <a:endParaRPr lang="en-GB" sz="1600" b="0" u="none" strike="noStrike">
              <a:solidFill>
                <a:srgbClr val="000000"/>
              </a:solidFill>
              <a:effectLst/>
              <a:uFillTx/>
              <a:latin typeface="Arial"/>
            </a:endParaRPr>
          </a:p>
        </p:txBody>
      </p:sp>
      <p:sp>
        <p:nvSpPr>
          <p:cNvPr id="4" name="PlaceHolder 3"/>
          <p:cNvSpPr>
            <a:spLocks noGrp="1"/>
          </p:cNvSpPr>
          <p:nvPr>
            <p:ph type="sldNum" idx="24"/>
          </p:nvPr>
        </p:nvSpPr>
        <p:spPr/>
        <p:txBody>
          <a:bodyPr/>
          <a:p>
            <a:fld id="{73A3A8D9-9F58-44DF-8045-752F262BFFE5}"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Rectangle 4"/>
          <p:cNvSpPr/>
          <p:nvPr/>
        </p:nvSpPr>
        <p:spPr>
          <a:xfrm>
            <a:off x="0" y="0"/>
            <a:ext cx="12190320" cy="682200"/>
          </a:xfrm>
          <a:prstGeom prst="rect">
            <a:avLst/>
          </a:prstGeom>
          <a:solidFill>
            <a:schemeClr val="accent6">
              <a:lumMod val="20000"/>
              <a:lumOff val="80000"/>
            </a:schemeClr>
          </a:solidFill>
          <a:ln w="0">
            <a:noFill/>
          </a:ln>
        </p:spPr>
        <p:style>
          <a:lnRef idx="0"/>
          <a:fillRef idx="0"/>
          <a:effectRef idx="0"/>
          <a:fontRef idx="minor"/>
        </p:style>
        <p:txBody>
          <a:bodyPr lIns="90000" tIns="45000" rIns="90000" bIns="45000" anchor="t">
            <a:normAutofit fontScale="85000" lnSpcReduction="9999"/>
          </a:bodyPr>
          <a:p>
            <a:pPr algn="ctr" defTabSz="914400">
              <a:lnSpc>
                <a:spcPct val="150000"/>
              </a:lnSpc>
            </a:pPr>
            <a:r>
              <a:rPr lang="en-US" sz="3200" b="1" u="none" strike="noStrike">
                <a:solidFill>
                  <a:schemeClr val="dk2"/>
                </a:solidFill>
                <a:effectLst/>
                <a:uFillTx/>
                <a:latin typeface="Times New Roman"/>
              </a:rPr>
              <a:t>5.Software requirements  ( Software and Hardware requirements)</a:t>
            </a:r>
            <a:endParaRPr lang="en-GB" sz="3200" b="0" u="none" strike="noStrike">
              <a:solidFill>
                <a:srgbClr val="000000"/>
              </a:solidFill>
              <a:effectLst/>
              <a:uFillTx/>
              <a:latin typeface="Arial"/>
            </a:endParaRPr>
          </a:p>
          <a:p>
            <a:pPr algn="ctr" defTabSz="914400">
              <a:lnSpc>
                <a:spcPct val="150000"/>
              </a:lnSpc>
              <a:tabLst>
                <a:tab pos="0" algn="l"/>
              </a:tabLst>
            </a:pPr>
            <a:endParaRPr lang="en-GB" sz="3200" b="0" u="none" strike="noStrike">
              <a:solidFill>
                <a:srgbClr val="000000"/>
              </a:solidFill>
              <a:effectLst/>
              <a:uFillTx/>
              <a:latin typeface="Arial"/>
            </a:endParaRPr>
          </a:p>
        </p:txBody>
      </p:sp>
      <p:graphicFrame>
        <p:nvGraphicFramePr>
          <p:cNvPr id="123" name=""/>
          <p:cNvGraphicFramePr/>
          <p:nvPr/>
        </p:nvGraphicFramePr>
        <p:xfrm>
          <a:off x="447120" y="1448280"/>
          <a:ext cx="5475960" cy="3490560"/>
        </p:xfrm>
        <a:graphic>
          <a:graphicData uri="http://schemas.openxmlformats.org/drawingml/2006/table">
            <a:tbl>
              <a:tblPr/>
              <a:tblGrid>
                <a:gridCol w="2561040"/>
                <a:gridCol w="2915280"/>
              </a:tblGrid>
              <a:tr h="346680">
                <a:tc>
                  <a:txBody>
                    <a:bodyPr lIns="36000" tIns="36000" rIns="36000" bIns="36000" anchor="ctr">
                      <a:noAutofit/>
                    </a:bodyPr>
                    <a:p>
                      <a:pPr algn="ctr">
                        <a:lnSpc>
                          <a:spcPct val="100000"/>
                        </a:lnSpc>
                      </a:pPr>
                      <a:r>
                        <a:rPr lang="en-GB" sz="1800" b="0" u="none" strike="noStrike">
                          <a:solidFill>
                            <a:srgbClr val="FFFFFF"/>
                          </a:solidFill>
                          <a:effectLst/>
                          <a:uFillTx/>
                          <a:latin typeface="Times New Roman"/>
                        </a:rPr>
                        <a:t>Software</a:t>
                      </a:r>
                      <a:endParaRPr lang="en-GB" sz="1800" b="0" u="none" strike="noStrike">
                        <a:solidFill>
                          <a:srgbClr val="FFFFFF"/>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c>
                  <a:txBody>
                    <a:bodyPr lIns="36000" tIns="36000" rIns="36000" bIns="36000" anchor="ctr">
                      <a:noAutofit/>
                    </a:bodyPr>
                    <a:p>
                      <a:pPr algn="ctr">
                        <a:lnSpc>
                          <a:spcPct val="100000"/>
                        </a:lnSpc>
                      </a:pPr>
                      <a:r>
                        <a:rPr lang="en-GB" sz="1800" b="0" u="none" strike="noStrike">
                          <a:solidFill>
                            <a:srgbClr val="FFFFFF"/>
                          </a:solidFill>
                          <a:effectLst/>
                          <a:uFillTx/>
                          <a:latin typeface="Times New Roman"/>
                        </a:rPr>
                        <a:t>Purpose</a:t>
                      </a:r>
                      <a:endParaRPr lang="en-GB" sz="1800" b="0" u="none" strike="noStrike">
                        <a:solidFill>
                          <a:srgbClr val="FFFFFF"/>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r>
              <a:tr h="285840">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Operating System</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Windows 10/11 or Linux</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r h="285840">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Programming Language</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Python, TypeScript</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r>
              <a:tr h="285840">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Frontend</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React + Tailwind CSS</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r h="285840">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Backend</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FastAPI</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r>
              <a:tr h="285840">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Graph Database</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Neo4j</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r h="285840">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Vector Database</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ChromaDB</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r>
              <a:tr h="285840">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Database</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PostgreSQL</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r h="285840">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Embedding Model</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BAAI/BGE-large-en-v1.5</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r>
              <a:tr h="285840">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Large Language Model</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Gemini / Llama 3</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r h="285840">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Version Control</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Git &amp; GitHub</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r>
              <a:tr h="285840">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IDE</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ctr">
                      <a:noAutofit/>
                    </a:bodyPr>
                    <a:p>
                      <a:pPr>
                        <a:lnSpc>
                          <a:spcPct val="100000"/>
                        </a:lnSpc>
                      </a:pPr>
                      <a:r>
                        <a:rPr lang="en-GB" sz="1400" b="0" u="none" strike="noStrike">
                          <a:solidFill>
                            <a:srgbClr val="000000"/>
                          </a:solidFill>
                          <a:effectLst/>
                          <a:uFillTx/>
                          <a:latin typeface="Times New Roman"/>
                        </a:rPr>
                        <a:t>Visual Studio Code</a:t>
                      </a:r>
                      <a:endParaRPr lang="en-GB" sz="1400" b="0" u="none" strike="noStrike">
                        <a:solidFill>
                          <a:srgbClr val="000000"/>
                        </a:solidFill>
                        <a:effectLst/>
                        <a:uFillTx/>
                        <a:latin typeface="Arial"/>
                      </a:endParaRPr>
                    </a:p>
                  </a:txBody>
                  <a:tcPr anchor="ctr"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bl>
          </a:graphicData>
        </a:graphic>
      </p:graphicFrame>
      <p:sp>
        <p:nvSpPr>
          <p:cNvPr id="124" name=""/>
          <p:cNvSpPr/>
          <p:nvPr/>
        </p:nvSpPr>
        <p:spPr>
          <a:xfrm>
            <a:off x="1583640" y="851760"/>
            <a:ext cx="2540880" cy="3646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GB" sz="1800" b="1" u="none" strike="noStrike">
                <a:solidFill>
                  <a:srgbClr val="000000"/>
                </a:solidFill>
                <a:effectLst/>
                <a:uFillTx/>
                <a:latin typeface="Times New Roman"/>
              </a:rPr>
              <a:t>Software Requirements</a:t>
            </a:r>
            <a:endParaRPr lang="en-GB" sz="1800" b="0" u="none" strike="noStrike">
              <a:solidFill>
                <a:srgbClr val="000000"/>
              </a:solidFill>
              <a:effectLst/>
              <a:uFillTx/>
              <a:latin typeface="Arial"/>
            </a:endParaRPr>
          </a:p>
        </p:txBody>
      </p:sp>
      <p:sp>
        <p:nvSpPr>
          <p:cNvPr id="125" name=""/>
          <p:cNvSpPr/>
          <p:nvPr/>
        </p:nvSpPr>
        <p:spPr>
          <a:xfrm>
            <a:off x="6897960" y="900000"/>
            <a:ext cx="2346840" cy="3340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1600" b="1" u="none" strike="noStrike">
                <a:solidFill>
                  <a:srgbClr val="000000"/>
                </a:solidFill>
                <a:effectLst/>
                <a:uFillTx/>
                <a:latin typeface="Times New Roman"/>
                <a:ea typeface="Times New Roman"/>
              </a:rPr>
              <a:t>Hardware Requirements </a:t>
            </a:r>
            <a:endParaRPr lang="en-GB" sz="1600" b="0" u="none" strike="noStrike">
              <a:solidFill>
                <a:srgbClr val="000000"/>
              </a:solidFill>
              <a:effectLst/>
              <a:uFillTx/>
              <a:latin typeface="Arial"/>
            </a:endParaRPr>
          </a:p>
        </p:txBody>
      </p:sp>
      <p:graphicFrame>
        <p:nvGraphicFramePr>
          <p:cNvPr id="126" name=""/>
          <p:cNvGraphicFramePr/>
          <p:nvPr/>
        </p:nvGraphicFramePr>
        <p:xfrm>
          <a:off x="6508800" y="1503720"/>
          <a:ext cx="5174640" cy="2925720"/>
        </p:xfrm>
        <a:graphic>
          <a:graphicData uri="http://schemas.openxmlformats.org/drawingml/2006/table">
            <a:tbl>
              <a:tblPr/>
              <a:tblGrid>
                <a:gridCol w="1732320"/>
                <a:gridCol w="3442680"/>
              </a:tblGrid>
              <a:tr h="551160">
                <a:tc>
                  <a:txBody>
                    <a:bodyPr lIns="36000" tIns="36000" rIns="36000" bIns="36000" anchor="t">
                      <a:noAutofit/>
                    </a:bodyPr>
                    <a:p>
                      <a:pPr>
                        <a:lnSpc>
                          <a:spcPct val="100000"/>
                        </a:lnSpc>
                      </a:pPr>
                      <a:r>
                        <a:rPr lang="en-GB" sz="1600" b="0" u="none" strike="noStrike">
                          <a:solidFill>
                            <a:srgbClr val="FFFFFF"/>
                          </a:solidFill>
                          <a:effectLst/>
                          <a:uFillTx/>
                          <a:latin typeface="Times New Roman"/>
                        </a:rPr>
                        <a:t>Component</a:t>
                      </a:r>
                      <a:endParaRPr lang="en-GB" sz="1600" b="0" u="none" strike="noStrike">
                        <a:solidFill>
                          <a:srgbClr val="FFFFFF"/>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c>
                  <a:txBody>
                    <a:bodyPr lIns="36000" tIns="36000" rIns="36000" bIns="36000" anchor="t">
                      <a:noAutofit/>
                    </a:bodyPr>
                    <a:p>
                      <a:pPr>
                        <a:lnSpc>
                          <a:spcPct val="100000"/>
                        </a:lnSpc>
                      </a:pPr>
                      <a:r>
                        <a:rPr lang="en-GB" sz="1600" b="0" u="none" strike="noStrike">
                          <a:solidFill>
                            <a:srgbClr val="FFFFFF"/>
                          </a:solidFill>
                          <a:effectLst/>
                          <a:uFillTx/>
                          <a:latin typeface="Times New Roman"/>
                        </a:rPr>
                        <a:t>Specification</a:t>
                      </a:r>
                      <a:endParaRPr lang="en-GB" sz="1600" b="0" u="none" strike="noStrike">
                        <a:solidFill>
                          <a:srgbClr val="FFFFFF"/>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r>
              <a:tr h="497160">
                <a:tc>
                  <a:txBody>
                    <a:bodyPr lIns="36000" tIns="36000" rIns="36000" bIns="36000" anchor="t">
                      <a:noAutofit/>
                    </a:bodyPr>
                    <a:p>
                      <a:pPr>
                        <a:lnSpc>
                          <a:spcPct val="100000"/>
                        </a:lnSpc>
                      </a:pPr>
                      <a:r>
                        <a:rPr lang="en-GB" sz="1400" b="0" u="none" strike="noStrike">
                          <a:solidFill>
                            <a:srgbClr val="000000"/>
                          </a:solidFill>
                          <a:effectLst/>
                          <a:uFillTx/>
                          <a:latin typeface="Times New Roman"/>
                        </a:rPr>
                        <a:t>Processor</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t">
                      <a:noAutofit/>
                    </a:bodyPr>
                    <a:p>
                      <a:pPr>
                        <a:lnSpc>
                          <a:spcPct val="100000"/>
                        </a:lnSpc>
                      </a:pPr>
                      <a:r>
                        <a:rPr lang="en-GB" sz="1400" b="0" u="none" strike="noStrike">
                          <a:solidFill>
                            <a:srgbClr val="000000"/>
                          </a:solidFill>
                          <a:effectLst/>
                          <a:uFillTx/>
                          <a:latin typeface="Times New Roman"/>
                        </a:rPr>
                        <a:t>Intel Core i5 (8th Generation or above)</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r h="427320">
                <a:tc>
                  <a:txBody>
                    <a:bodyPr lIns="36000" tIns="36000" rIns="36000" bIns="36000" anchor="t">
                      <a:noAutofit/>
                    </a:bodyPr>
                    <a:p>
                      <a:pPr>
                        <a:lnSpc>
                          <a:spcPct val="100000"/>
                        </a:lnSpc>
                      </a:pPr>
                      <a:r>
                        <a:rPr lang="en-GB" sz="1400" b="0" u="none" strike="noStrike">
                          <a:solidFill>
                            <a:srgbClr val="000000"/>
                          </a:solidFill>
                          <a:effectLst/>
                          <a:uFillTx/>
                          <a:latin typeface="Times New Roman"/>
                        </a:rPr>
                        <a:t>RAM</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t">
                      <a:noAutofit/>
                    </a:bodyPr>
                    <a:p>
                      <a:pPr>
                        <a:lnSpc>
                          <a:spcPct val="100000"/>
                        </a:lnSpc>
                      </a:pPr>
                      <a:r>
                        <a:rPr lang="en-GB" sz="1400" b="0" u="none" strike="noStrike">
                          <a:solidFill>
                            <a:srgbClr val="000000"/>
                          </a:solidFill>
                          <a:effectLst/>
                          <a:uFillTx/>
                          <a:latin typeface="Times New Roman"/>
                        </a:rPr>
                        <a:t>Minimum 8 GB (16 GB Recommended)</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r>
              <a:tr h="497160">
                <a:tc>
                  <a:txBody>
                    <a:bodyPr lIns="36000" tIns="36000" rIns="36000" bIns="36000" anchor="t">
                      <a:noAutofit/>
                    </a:bodyPr>
                    <a:p>
                      <a:pPr>
                        <a:lnSpc>
                          <a:spcPct val="100000"/>
                        </a:lnSpc>
                      </a:pPr>
                      <a:r>
                        <a:rPr lang="en-GB" sz="1400" b="0" u="none" strike="noStrike">
                          <a:solidFill>
                            <a:srgbClr val="000000"/>
                          </a:solidFill>
                          <a:effectLst/>
                          <a:uFillTx/>
                          <a:latin typeface="Times New Roman"/>
                        </a:rPr>
                        <a:t>Storage</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t">
                      <a:noAutofit/>
                    </a:bodyPr>
                    <a:p>
                      <a:pPr>
                        <a:lnSpc>
                          <a:spcPct val="100000"/>
                        </a:lnSpc>
                      </a:pPr>
                      <a:r>
                        <a:rPr lang="en-GB" sz="1400" b="0" u="none" strike="noStrike">
                          <a:solidFill>
                            <a:srgbClr val="000000"/>
                          </a:solidFill>
                          <a:effectLst/>
                          <a:uFillTx/>
                          <a:latin typeface="Times New Roman"/>
                        </a:rPr>
                        <a:t>20 GB Free SSD Space</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r h="497160">
                <a:tc>
                  <a:txBody>
                    <a:bodyPr lIns="36000" tIns="36000" rIns="36000" bIns="36000" anchor="t">
                      <a:noAutofit/>
                    </a:bodyPr>
                    <a:p>
                      <a:pPr>
                        <a:lnSpc>
                          <a:spcPct val="100000"/>
                        </a:lnSpc>
                      </a:pPr>
                      <a:r>
                        <a:rPr lang="en-GB" sz="1400" b="0" u="none" strike="noStrike">
                          <a:solidFill>
                            <a:srgbClr val="000000"/>
                          </a:solidFill>
                          <a:effectLst/>
                          <a:uFillTx/>
                          <a:latin typeface="Times New Roman"/>
                        </a:rPr>
                        <a:t>Internet</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t">
                      <a:noAutofit/>
                    </a:bodyPr>
                    <a:p>
                      <a:pPr>
                        <a:lnSpc>
                          <a:spcPct val="100000"/>
                        </a:lnSpc>
                      </a:pPr>
                      <a:r>
                        <a:rPr lang="en-GB" sz="1400" b="0" u="none" strike="noStrike">
                          <a:solidFill>
                            <a:srgbClr val="000000"/>
                          </a:solidFill>
                          <a:effectLst/>
                          <a:uFillTx/>
                          <a:latin typeface="Times New Roman"/>
                        </a:rPr>
                        <a:t>Broadband Internet Connection</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r>
              <a:tr h="456120">
                <a:tc>
                  <a:txBody>
                    <a:bodyPr lIns="36000" tIns="36000" rIns="36000" bIns="36000" anchor="t">
                      <a:noAutofit/>
                    </a:bodyPr>
                    <a:p>
                      <a:pPr>
                        <a:lnSpc>
                          <a:spcPct val="100000"/>
                        </a:lnSpc>
                      </a:pPr>
                      <a:r>
                        <a:rPr lang="en-GB" sz="1400" b="0" u="none" strike="noStrike">
                          <a:solidFill>
                            <a:srgbClr val="000000"/>
                          </a:solidFill>
                          <a:effectLst/>
                          <a:uFillTx/>
                          <a:latin typeface="Times New Roman"/>
                        </a:rPr>
                        <a:t>Graphics</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t">
                      <a:noAutofit/>
                    </a:bodyPr>
                    <a:p>
                      <a:pPr>
                        <a:lnSpc>
                          <a:spcPct val="100000"/>
                        </a:lnSpc>
                      </a:pPr>
                      <a:r>
                        <a:rPr lang="en-GB" sz="1400" b="0" u="none" strike="noStrike">
                          <a:solidFill>
                            <a:srgbClr val="000000"/>
                          </a:solidFill>
                          <a:effectLst/>
                          <a:uFillTx/>
                          <a:latin typeface="Times New Roman"/>
                        </a:rPr>
                        <a:t>Integrated Graphics or Better</a:t>
                      </a:r>
                      <a:endParaRPr lang="en-GB" sz="14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bl>
          </a:graphicData>
        </a:graphic>
      </p:graphicFrame>
      <p:sp>
        <p:nvSpPr>
          <p:cNvPr id="2" name="PlaceHolder 1"/>
          <p:cNvSpPr>
            <a:spLocks noGrp="1"/>
          </p:cNvSpPr>
          <p:nvPr>
            <p:ph type="ftr" idx="23"/>
          </p:nvPr>
        </p:nvSpPr>
        <p:spPr/>
        <p:txBody>
          <a:bodyPr/>
          <a:p>
            <a:r>
              <a:t>IV B.Tech (CSE) – Major Project Presentation Review-1</a:t>
            </a:r>
          </a:p>
        </p:txBody>
      </p:sp>
      <p:sp>
        <p:nvSpPr>
          <p:cNvPr id="3" name="PlaceHolder 2"/>
          <p:cNvSpPr>
            <a:spLocks noGrp="1"/>
          </p:cNvSpPr>
          <p:nvPr>
            <p:ph type="sldNum" idx="24"/>
          </p:nvPr>
        </p:nvSpPr>
        <p:spPr/>
        <p:txBody>
          <a:bodyPr/>
          <a:p>
            <a:fld id="{E0E16564-CA79-4E6F-9D53-FD22CA772601}"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Rectangle 4"/>
          <p:cNvSpPr/>
          <p:nvPr/>
        </p:nvSpPr>
        <p:spPr>
          <a:xfrm>
            <a:off x="0" y="0"/>
            <a:ext cx="12190320" cy="682200"/>
          </a:xfrm>
          <a:prstGeom prst="rect">
            <a:avLst/>
          </a:prstGeom>
          <a:solidFill>
            <a:schemeClr val="accent6">
              <a:lumMod val="20000"/>
              <a:lumOff val="80000"/>
            </a:schemeClr>
          </a:solidFill>
          <a:ln w="0">
            <a:noFill/>
          </a:ln>
        </p:spPr>
        <p:style>
          <a:lnRef idx="0"/>
          <a:fillRef idx="0"/>
          <a:effectRef idx="0"/>
          <a:fontRef idx="minor"/>
        </p:style>
        <p:txBody>
          <a:bodyPr lIns="90000" tIns="45000" rIns="90000" bIns="45000" anchor="t">
            <a:normAutofit fontScale="85000" lnSpcReduction="9999"/>
          </a:bodyPr>
          <a:p>
            <a:pPr algn="ctr" defTabSz="914400">
              <a:lnSpc>
                <a:spcPct val="150000"/>
              </a:lnSpc>
            </a:pPr>
            <a:r>
              <a:rPr lang="en-US" sz="3200" b="1" u="none" strike="noStrike">
                <a:solidFill>
                  <a:schemeClr val="dk2"/>
                </a:solidFill>
                <a:effectLst/>
                <a:uFillTx/>
                <a:latin typeface="Times New Roman"/>
              </a:rPr>
              <a:t>6.Plan project milestones. </a:t>
            </a:r>
            <a:endParaRPr lang="en-GB" sz="3200" b="0" u="none" strike="noStrike">
              <a:solidFill>
                <a:srgbClr val="000000"/>
              </a:solidFill>
              <a:effectLst/>
              <a:uFillTx/>
              <a:latin typeface="Arial"/>
            </a:endParaRPr>
          </a:p>
          <a:p>
            <a:pPr algn="ctr" defTabSz="914400">
              <a:lnSpc>
                <a:spcPct val="150000"/>
              </a:lnSpc>
              <a:tabLst>
                <a:tab pos="0" algn="l"/>
              </a:tabLst>
            </a:pPr>
            <a:endParaRPr lang="en-GB" sz="3200" b="0" u="none" strike="noStrike">
              <a:solidFill>
                <a:srgbClr val="000000"/>
              </a:solidFill>
              <a:effectLst/>
              <a:uFillTx/>
              <a:latin typeface="Arial"/>
            </a:endParaRPr>
          </a:p>
        </p:txBody>
      </p:sp>
      <p:graphicFrame>
        <p:nvGraphicFramePr>
          <p:cNvPr id="128" name=""/>
          <p:cNvGraphicFramePr/>
          <p:nvPr/>
        </p:nvGraphicFramePr>
        <p:xfrm>
          <a:off x="2407680" y="876240"/>
          <a:ext cx="7741800" cy="5321880"/>
        </p:xfrm>
        <a:graphic>
          <a:graphicData uri="http://schemas.openxmlformats.org/drawingml/2006/table">
            <a:tbl>
              <a:tblPr/>
              <a:tblGrid>
                <a:gridCol w="888120"/>
                <a:gridCol w="5322240"/>
                <a:gridCol w="1531800"/>
              </a:tblGrid>
              <a:tr h="456120">
                <a:tc>
                  <a:txBody>
                    <a:bodyPr lIns="36000" tIns="36000" rIns="36000" bIns="36000" anchor="t">
                      <a:noAutofit/>
                    </a:bodyPr>
                    <a:p>
                      <a:pPr algn="ctr">
                        <a:lnSpc>
                          <a:spcPct val="150000"/>
                        </a:lnSpc>
                        <a:spcBef>
                          <a:spcPts val="2551"/>
                        </a:spcBef>
                        <a:spcAft>
                          <a:spcPts val="2551"/>
                        </a:spcAft>
                      </a:pPr>
                      <a:r>
                        <a:rPr lang="en-GB" sz="1800" b="0" u="none" strike="noStrike">
                          <a:solidFill>
                            <a:srgbClr val="FFFFFF"/>
                          </a:solidFill>
                          <a:effectLst/>
                          <a:uFillTx/>
                          <a:latin typeface="Times New Roman"/>
                        </a:rPr>
                        <a:t>Phase</a:t>
                      </a:r>
                      <a:endParaRPr lang="en-GB" sz="1800" b="0" u="none" strike="noStrike">
                        <a:solidFill>
                          <a:srgbClr val="FFFFFF"/>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c>
                  <a:txBody>
                    <a:bodyPr lIns="36000" tIns="36000" rIns="36000" bIns="36000" anchor="t">
                      <a:noAutofit/>
                    </a:bodyPr>
                    <a:p>
                      <a:pPr algn="ctr">
                        <a:lnSpc>
                          <a:spcPct val="150000"/>
                        </a:lnSpc>
                        <a:spcBef>
                          <a:spcPts val="2551"/>
                        </a:spcBef>
                        <a:spcAft>
                          <a:spcPts val="2551"/>
                        </a:spcAft>
                      </a:pPr>
                      <a:r>
                        <a:rPr lang="en-GB" sz="1800" b="0" u="none" strike="noStrike">
                          <a:solidFill>
                            <a:srgbClr val="FFFFFF"/>
                          </a:solidFill>
                          <a:effectLst/>
                          <a:uFillTx/>
                          <a:latin typeface="Times New Roman"/>
                        </a:rPr>
                        <a:t>Activity</a:t>
                      </a:r>
                      <a:endParaRPr lang="en-GB" sz="1800" b="0" u="none" strike="noStrike">
                        <a:solidFill>
                          <a:srgbClr val="FFFFFF"/>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c>
                  <a:txBody>
                    <a:bodyPr lIns="36000" tIns="36000" rIns="36000" bIns="36000" anchor="t">
                      <a:noAutofit/>
                    </a:bodyPr>
                    <a:p>
                      <a:pPr algn="ctr">
                        <a:lnSpc>
                          <a:spcPct val="150000"/>
                        </a:lnSpc>
                        <a:spcBef>
                          <a:spcPts val="2551"/>
                        </a:spcBef>
                        <a:spcAft>
                          <a:spcPts val="2551"/>
                        </a:spcAft>
                      </a:pPr>
                      <a:r>
                        <a:rPr lang="en-GB" sz="1800" b="0" u="none" strike="noStrike">
                          <a:solidFill>
                            <a:srgbClr val="FFFFFF"/>
                          </a:solidFill>
                          <a:effectLst/>
                          <a:uFillTx/>
                          <a:latin typeface="Times New Roman"/>
                        </a:rPr>
                        <a:t>Status</a:t>
                      </a:r>
                      <a:endParaRPr lang="en-GB" sz="1800" b="0" u="none" strike="noStrike">
                        <a:solidFill>
                          <a:srgbClr val="FFFFFF"/>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5983B0"/>
                    </a:solidFill>
                  </a:tcPr>
                </a:tc>
              </a:tr>
              <a:tr h="456120">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1</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t">
                      <a:noAutofit/>
                    </a:bodyPr>
                    <a:p>
                      <a:pPr>
                        <a:lnSpc>
                          <a:spcPct val="150000"/>
                        </a:lnSpc>
                        <a:spcBef>
                          <a:spcPts val="5669"/>
                        </a:spcBef>
                        <a:spcAft>
                          <a:spcPts val="5669"/>
                        </a:spcAft>
                      </a:pPr>
                      <a:r>
                        <a:rPr lang="en-GB" sz="1800" b="0" u="none" strike="noStrike">
                          <a:solidFill>
                            <a:srgbClr val="000000"/>
                          </a:solidFill>
                          <a:effectLst/>
                          <a:uFillTx/>
                          <a:latin typeface="Times New Roman"/>
                        </a:rPr>
                        <a:t>Problem Identification &amp; Topic Selection </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Completed </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r h="456120">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2</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t">
                      <a:noAutofit/>
                    </a:bodyPr>
                    <a:p>
                      <a:pPr>
                        <a:lnSpc>
                          <a:spcPct val="150000"/>
                        </a:lnSpc>
                        <a:spcBef>
                          <a:spcPts val="5669"/>
                        </a:spcBef>
                        <a:spcAft>
                          <a:spcPts val="5669"/>
                        </a:spcAft>
                      </a:pPr>
                      <a:r>
                        <a:rPr lang="en-GB" sz="1800" b="0" u="none" strike="noStrike">
                          <a:solidFill>
                            <a:srgbClr val="000000"/>
                          </a:solidFill>
                          <a:effectLst/>
                          <a:uFillTx/>
                          <a:latin typeface="Times New Roman"/>
                        </a:rPr>
                        <a:t>Literature Survey &amp; Requirement Analysis</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Completed </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r>
              <a:tr h="456120">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3</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t">
                      <a:noAutofit/>
                    </a:bodyPr>
                    <a:p>
                      <a:pPr>
                        <a:lnSpc>
                          <a:spcPct val="150000"/>
                        </a:lnSpc>
                        <a:spcBef>
                          <a:spcPts val="5669"/>
                        </a:spcBef>
                        <a:spcAft>
                          <a:spcPts val="5669"/>
                        </a:spcAft>
                      </a:pPr>
                      <a:r>
                        <a:rPr lang="en-GB" sz="1800" b="0" u="none" strike="noStrike">
                          <a:solidFill>
                            <a:srgbClr val="000000"/>
                          </a:solidFill>
                          <a:effectLst/>
                          <a:uFillTx/>
                          <a:latin typeface="Times New Roman"/>
                        </a:rPr>
                        <a:t>System Design &amp; Architecture</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Completed </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r h="456120">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4</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t">
                      <a:noAutofit/>
                    </a:bodyPr>
                    <a:p>
                      <a:pPr>
                        <a:lnSpc>
                          <a:spcPct val="150000"/>
                        </a:lnSpc>
                        <a:spcBef>
                          <a:spcPts val="5669"/>
                        </a:spcBef>
                        <a:spcAft>
                          <a:spcPts val="5669"/>
                        </a:spcAft>
                      </a:pPr>
                      <a:r>
                        <a:rPr lang="en-GB" sz="1800" b="0" u="none" strike="noStrike">
                          <a:solidFill>
                            <a:srgbClr val="000000"/>
                          </a:solidFill>
                          <a:effectLst/>
                          <a:uFillTx/>
                          <a:latin typeface="Times New Roman"/>
                        </a:rPr>
                        <a:t>Frontend Development </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In progress</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r>
              <a:tr h="456120">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5</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t">
                      <a:noAutofit/>
                    </a:bodyPr>
                    <a:p>
                      <a:pPr>
                        <a:lnSpc>
                          <a:spcPct val="150000"/>
                        </a:lnSpc>
                        <a:spcBef>
                          <a:spcPts val="5669"/>
                        </a:spcBef>
                        <a:spcAft>
                          <a:spcPts val="5669"/>
                        </a:spcAft>
                      </a:pPr>
                      <a:r>
                        <a:rPr lang="en-GB" sz="1800" b="0" u="none" strike="noStrike">
                          <a:solidFill>
                            <a:srgbClr val="000000"/>
                          </a:solidFill>
                          <a:effectLst/>
                          <a:uFillTx/>
                          <a:latin typeface="Times New Roman"/>
                        </a:rPr>
                        <a:t>Backend API Development </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Planned</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r h="410400">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6</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t">
                      <a:noAutofit/>
                    </a:bodyPr>
                    <a:p>
                      <a:pPr>
                        <a:lnSpc>
                          <a:spcPct val="150000"/>
                        </a:lnSpc>
                        <a:spcBef>
                          <a:spcPts val="5669"/>
                        </a:spcBef>
                        <a:spcAft>
                          <a:spcPts val="5669"/>
                        </a:spcAft>
                      </a:pPr>
                      <a:r>
                        <a:rPr lang="en-GB" sz="1800" b="0" u="none" strike="noStrike">
                          <a:solidFill>
                            <a:srgbClr val="000000"/>
                          </a:solidFill>
                          <a:effectLst/>
                          <a:uFillTx/>
                          <a:latin typeface="Times New Roman"/>
                        </a:rPr>
                        <a:t>Knowledge Graph (Neo4j) Integration</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Planned</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r>
              <a:tr h="456120">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7</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t">
                      <a:noAutofit/>
                    </a:bodyPr>
                    <a:p>
                      <a:pPr>
                        <a:lnSpc>
                          <a:spcPct val="150000"/>
                        </a:lnSpc>
                        <a:spcBef>
                          <a:spcPts val="5669"/>
                        </a:spcBef>
                        <a:spcAft>
                          <a:spcPts val="5669"/>
                        </a:spcAft>
                      </a:pPr>
                      <a:r>
                        <a:rPr lang="en-GB" sz="1800" b="0" u="none" strike="noStrike">
                          <a:solidFill>
                            <a:srgbClr val="000000"/>
                          </a:solidFill>
                          <a:effectLst/>
                          <a:uFillTx/>
                          <a:latin typeface="Times New Roman"/>
                        </a:rPr>
                        <a:t>Vector Database (ChromaDB) Integration </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Planned</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r h="456120">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8</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t">
                      <a:noAutofit/>
                    </a:bodyPr>
                    <a:p>
                      <a:pPr>
                        <a:lnSpc>
                          <a:spcPct val="150000"/>
                        </a:lnSpc>
                        <a:spcBef>
                          <a:spcPts val="2551"/>
                        </a:spcBef>
                        <a:spcAft>
                          <a:spcPts val="2551"/>
                        </a:spcAft>
                      </a:pPr>
                      <a:r>
                        <a:rPr lang="en-GB" sz="1800" b="0" u="none" strike="noStrike">
                          <a:solidFill>
                            <a:srgbClr val="000000"/>
                          </a:solidFill>
                          <a:effectLst/>
                          <a:uFillTx/>
                          <a:latin typeface="Times New Roman"/>
                        </a:rPr>
                        <a:t>LLM &amp; GraphRAG Integration</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Planned</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r>
              <a:tr h="456120">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9</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t">
                      <a:noAutofit/>
                    </a:bodyPr>
                    <a:p>
                      <a:pPr>
                        <a:lnSpc>
                          <a:spcPct val="150000"/>
                        </a:lnSpc>
                        <a:spcBef>
                          <a:spcPts val="2551"/>
                        </a:spcBef>
                        <a:spcAft>
                          <a:spcPts val="2551"/>
                        </a:spcAft>
                      </a:pPr>
                      <a:r>
                        <a:rPr lang="en-GB" sz="1800" b="0" u="none" strike="noStrike">
                          <a:solidFill>
                            <a:srgbClr val="000000"/>
                          </a:solidFill>
                          <a:effectLst/>
                          <a:uFillTx/>
                          <a:latin typeface="Times New Roman"/>
                        </a:rPr>
                        <a:t>Testing &amp; Evaluation</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Planned</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B4C7DC"/>
                    </a:solidFill>
                  </a:tcPr>
                </a:tc>
              </a:tr>
              <a:tr h="456120">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10</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t">
                      <a:noAutofit/>
                    </a:bodyPr>
                    <a:p>
                      <a:pPr>
                        <a:lnSpc>
                          <a:spcPct val="150000"/>
                        </a:lnSpc>
                        <a:spcBef>
                          <a:spcPts val="2551"/>
                        </a:spcBef>
                        <a:spcAft>
                          <a:spcPts val="2551"/>
                        </a:spcAft>
                      </a:pPr>
                      <a:r>
                        <a:rPr lang="en-GB" sz="1800" b="0" u="none" strike="noStrike">
                          <a:solidFill>
                            <a:srgbClr val="000000"/>
                          </a:solidFill>
                          <a:effectLst/>
                          <a:uFillTx/>
                          <a:latin typeface="Times New Roman"/>
                        </a:rPr>
                        <a:t>Documentation &amp; Final Deployment</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c>
                  <a:txBody>
                    <a:bodyPr lIns="36000" tIns="36000" rIns="36000" bIns="36000" anchor="t">
                      <a:noAutofit/>
                    </a:bodyPr>
                    <a:p>
                      <a:pPr algn="ctr">
                        <a:lnSpc>
                          <a:spcPct val="150000"/>
                        </a:lnSpc>
                        <a:spcBef>
                          <a:spcPts val="2551"/>
                        </a:spcBef>
                        <a:spcAft>
                          <a:spcPts val="2551"/>
                        </a:spcAft>
                      </a:pPr>
                      <a:r>
                        <a:rPr lang="en-GB" sz="1800" b="0" u="none" strike="noStrike">
                          <a:solidFill>
                            <a:srgbClr val="000000"/>
                          </a:solidFill>
                          <a:effectLst/>
                          <a:uFillTx/>
                          <a:latin typeface="Times New Roman"/>
                        </a:rPr>
                        <a:t>Planned</a:t>
                      </a:r>
                      <a:endParaRPr lang="en-GB" sz="1800" b="0" u="none" strike="noStrike">
                        <a:solidFill>
                          <a:srgbClr val="000000"/>
                        </a:solidFill>
                        <a:effectLst/>
                        <a:uFillTx/>
                        <a:latin typeface="Arial"/>
                      </a:endParaRPr>
                    </a:p>
                  </a:txBody>
                  <a:tcPr anchor="t" marL="36000" marR="36000" marT="36000" marB="36000">
                    <a:lnL w="7200">
                      <a:solidFill>
                        <a:srgbClr val="FFFFFF"/>
                      </a:solidFill>
                      <a:prstDash val="solid"/>
                    </a:lnL>
                    <a:lnR w="7200">
                      <a:solidFill>
                        <a:srgbClr val="FFFFFF"/>
                      </a:solidFill>
                      <a:prstDash val="solid"/>
                    </a:lnR>
                    <a:lnT w="7200">
                      <a:solidFill>
                        <a:srgbClr val="FFFFFF"/>
                      </a:solidFill>
                      <a:prstDash val="solid"/>
                    </a:lnT>
                    <a:lnB w="7200">
                      <a:solidFill>
                        <a:srgbClr val="FFFFFF"/>
                      </a:solidFill>
                      <a:prstDash val="solid"/>
                    </a:lnB>
                    <a:solidFill>
                      <a:srgbClr val="DEE6EF"/>
                    </a:solidFill>
                  </a:tcPr>
                </a:tc>
              </a:tr>
            </a:tbl>
          </a:graphicData>
        </a:graphic>
      </p:graphicFrame>
      <p:sp>
        <p:nvSpPr>
          <p:cNvPr id="2" name="PlaceHolder 1"/>
          <p:cNvSpPr>
            <a:spLocks noGrp="1"/>
          </p:cNvSpPr>
          <p:nvPr>
            <p:ph type="ftr" idx="23"/>
          </p:nvPr>
        </p:nvSpPr>
        <p:spPr/>
        <p:txBody>
          <a:bodyPr/>
          <a:p>
            <a:r>
              <a:t>IV B.Tech (CSE) – Major Project Presentation Review-1</a:t>
            </a:r>
          </a:p>
        </p:txBody>
      </p:sp>
      <p:sp>
        <p:nvSpPr>
          <p:cNvPr id="3" name="PlaceHolder 2"/>
          <p:cNvSpPr>
            <a:spLocks noGrp="1"/>
          </p:cNvSpPr>
          <p:nvPr>
            <p:ph type="sldNum" idx="24"/>
          </p:nvPr>
        </p:nvSpPr>
        <p:spPr/>
        <p:txBody>
          <a:bodyPr/>
          <a:p>
            <a:fld id="{B6AD163C-6CDF-4D87-85A8-838797EDC0FD}"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p:nvPr>
        </p:nvSpPr>
        <p:spPr>
          <a:xfrm>
            <a:off x="838080" y="1825560"/>
            <a:ext cx="10513800" cy="4349520"/>
          </a:xfrm>
          <a:prstGeom prst="rect">
            <a:avLst/>
          </a:prstGeom>
          <a:noFill/>
          <a:ln w="0">
            <a:noFill/>
          </a:ln>
        </p:spPr>
        <p:txBody>
          <a:bodyPr lIns="91440" tIns="45720" rIns="91440" bIns="45720" anchor="t">
            <a:no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130" name="Rectangle 4"/>
          <p:cNvSpPr/>
          <p:nvPr/>
        </p:nvSpPr>
        <p:spPr>
          <a:xfrm>
            <a:off x="0" y="0"/>
            <a:ext cx="12190320" cy="682200"/>
          </a:xfrm>
          <a:prstGeom prst="rect">
            <a:avLst/>
          </a:prstGeom>
          <a:solidFill>
            <a:schemeClr val="accent6">
              <a:lumMod val="20000"/>
              <a:lumOff val="80000"/>
            </a:schemeClr>
          </a:solidFill>
          <a:ln w="0">
            <a:noFill/>
          </a:ln>
        </p:spPr>
        <p:style>
          <a:lnRef idx="0"/>
          <a:fillRef idx="0"/>
          <a:effectRef idx="0"/>
          <a:fontRef idx="minor"/>
        </p:style>
        <p:txBody>
          <a:bodyPr lIns="90000" tIns="45000" rIns="90000" bIns="45000" anchor="t">
            <a:normAutofit fontScale="85000" lnSpcReduction="9999"/>
          </a:bodyPr>
          <a:p>
            <a:pPr algn="ctr" defTabSz="914400">
              <a:lnSpc>
                <a:spcPct val="150000"/>
              </a:lnSpc>
            </a:pPr>
            <a:r>
              <a:rPr lang="en-US" sz="3200" b="1" u="none" strike="noStrike">
                <a:solidFill>
                  <a:schemeClr val="dk2"/>
                </a:solidFill>
                <a:effectLst/>
                <a:uFillTx/>
                <a:latin typeface="Times New Roman"/>
              </a:rPr>
              <a:t>7.Design  and overall system architecture.</a:t>
            </a:r>
            <a:endParaRPr lang="en-GB" sz="3200" b="0" u="none" strike="noStrike">
              <a:solidFill>
                <a:srgbClr val="000000"/>
              </a:solidFill>
              <a:effectLst/>
              <a:uFillTx/>
              <a:latin typeface="Arial"/>
            </a:endParaRPr>
          </a:p>
          <a:p>
            <a:pPr algn="ctr" defTabSz="914400">
              <a:lnSpc>
                <a:spcPct val="150000"/>
              </a:lnSpc>
            </a:pPr>
            <a:endParaRPr lang="en-GB" sz="3200" b="0" u="none" strike="noStrike">
              <a:solidFill>
                <a:srgbClr val="000000"/>
              </a:solidFill>
              <a:effectLst/>
              <a:uFillTx/>
              <a:latin typeface="Arial"/>
            </a:endParaRPr>
          </a:p>
          <a:p>
            <a:pPr algn="ctr" defTabSz="914400">
              <a:lnSpc>
                <a:spcPct val="150000"/>
              </a:lnSpc>
              <a:tabLst>
                <a:tab pos="0" algn="l"/>
              </a:tabLst>
            </a:pPr>
            <a:endParaRPr lang="en-GB" sz="3200" b="0" u="none" strike="noStrike">
              <a:solidFill>
                <a:srgbClr val="000000"/>
              </a:solidFill>
              <a:effectLst/>
              <a:uFillTx/>
              <a:latin typeface="Arial"/>
            </a:endParaRPr>
          </a:p>
        </p:txBody>
      </p:sp>
      <p:sp>
        <p:nvSpPr>
          <p:cNvPr id="131" name="Content Placeholder 3"/>
          <p:cNvSpPr/>
          <p:nvPr/>
        </p:nvSpPr>
        <p:spPr>
          <a:xfrm>
            <a:off x="838080" y="1825560"/>
            <a:ext cx="10513800" cy="4349520"/>
          </a:xfrm>
          <a:prstGeom prst="rect">
            <a:avLst/>
          </a:prstGeom>
          <a:noFill/>
          <a:ln w="0">
            <a:noFill/>
          </a:ln>
        </p:spPr>
        <p:style>
          <a:lnRef idx="0"/>
          <a:fillRef idx="0"/>
          <a:effectRef idx="0"/>
          <a:fontRef idx="minor"/>
        </p:style>
        <p:txBody>
          <a:bodyPr lIns="90000" tIns="45000" rIns="90000" bIns="45000" anchor="t">
            <a:noAutofit/>
          </a:bodyPr>
          <a:p>
            <a:endParaRPr lang="en-US" sz="2800" b="0" u="none" strike="noStrike">
              <a:solidFill>
                <a:schemeClr val="dk1"/>
              </a:solidFill>
              <a:effectLst/>
              <a:uFillTx/>
              <a:latin typeface="Calibri"/>
            </a:endParaRPr>
          </a:p>
        </p:txBody>
      </p:sp>
      <p:pic>
        <p:nvPicPr>
          <p:cNvPr id="132" name=""/>
          <p:cNvPicPr/>
          <p:nvPr/>
        </p:nvPicPr>
        <p:blipFill>
          <a:blip r:embed="rId1"/>
          <a:stretch/>
        </p:blipFill>
        <p:spPr>
          <a:xfrm>
            <a:off x="1620000" y="900000"/>
            <a:ext cx="9138960" cy="5534280"/>
          </a:xfrm>
          <a:prstGeom prst="rect">
            <a:avLst/>
          </a:prstGeom>
          <a:noFill/>
          <a:ln w="0">
            <a:noFill/>
          </a:ln>
        </p:spPr>
      </p:pic>
      <p:sp>
        <p:nvSpPr>
          <p:cNvPr id="3" name="PlaceHolder 2"/>
          <p:cNvSpPr>
            <a:spLocks noGrp="1"/>
          </p:cNvSpPr>
          <p:nvPr>
            <p:ph type="ftr" idx="23"/>
          </p:nvPr>
        </p:nvSpPr>
        <p:spPr/>
        <p:txBody>
          <a:bodyPr/>
          <a:p>
            <a:r>
              <a:t>IV B.Tech (CSE) – Major Project Presentation Review-1</a:t>
            </a:r>
          </a:p>
        </p:txBody>
      </p:sp>
      <p:sp>
        <p:nvSpPr>
          <p:cNvPr id="4" name="PlaceHolder 3"/>
          <p:cNvSpPr>
            <a:spLocks noGrp="1"/>
          </p:cNvSpPr>
          <p:nvPr>
            <p:ph type="sldNum" idx="24"/>
          </p:nvPr>
        </p:nvSpPr>
        <p:spPr/>
        <p:txBody>
          <a:bodyPr/>
          <a:p>
            <a:fld id="{54FCB2E2-67AA-4B92-BF30-06C6DE1A5354}"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p:nvPr>
        </p:nvSpPr>
        <p:spPr>
          <a:xfrm>
            <a:off x="838080" y="1825560"/>
            <a:ext cx="10513800" cy="4349520"/>
          </a:xfrm>
          <a:prstGeom prst="rect">
            <a:avLst/>
          </a:prstGeom>
          <a:noFill/>
          <a:ln w="0">
            <a:noFill/>
          </a:ln>
        </p:spPr>
        <p:txBody>
          <a:bodyPr lIns="91440" tIns="45720" rIns="91440" bIns="45720" anchor="t">
            <a:no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134" name="Rectangle 3"/>
          <p:cNvSpPr/>
          <p:nvPr/>
        </p:nvSpPr>
        <p:spPr>
          <a:xfrm>
            <a:off x="0" y="0"/>
            <a:ext cx="12190320" cy="682200"/>
          </a:xfrm>
          <a:prstGeom prst="rect">
            <a:avLst/>
          </a:prstGeom>
          <a:solidFill>
            <a:schemeClr val="accent6">
              <a:lumMod val="20000"/>
              <a:lumOff val="80000"/>
            </a:schemeClr>
          </a:solidFill>
          <a:ln w="0">
            <a:noFill/>
          </a:ln>
        </p:spPr>
        <p:style>
          <a:lnRef idx="0"/>
          <a:fillRef idx="0"/>
          <a:effectRef idx="0"/>
          <a:fontRef idx="minor"/>
        </p:style>
        <p:txBody>
          <a:bodyPr lIns="90000" tIns="45000" rIns="90000" bIns="45000" anchor="t">
            <a:normAutofit fontScale="85000" lnSpcReduction="9999"/>
          </a:bodyPr>
          <a:p>
            <a:pPr algn="ctr" defTabSz="914400">
              <a:lnSpc>
                <a:spcPct val="150000"/>
              </a:lnSpc>
            </a:pPr>
            <a:r>
              <a:rPr lang="en-US" sz="3200" b="1" u="none" strike="noStrike">
                <a:solidFill>
                  <a:schemeClr val="dk2"/>
                </a:solidFill>
                <a:effectLst/>
                <a:uFillTx/>
                <a:latin typeface="Times New Roman"/>
              </a:rPr>
              <a:t>7.Design  and overall system architecture.</a:t>
            </a:r>
            <a:endParaRPr lang="en-GB" sz="3200" b="0" u="none" strike="noStrike">
              <a:solidFill>
                <a:srgbClr val="000000"/>
              </a:solidFill>
              <a:effectLst/>
              <a:uFillTx/>
              <a:latin typeface="Arial"/>
            </a:endParaRPr>
          </a:p>
          <a:p>
            <a:pPr algn="ctr" defTabSz="914400">
              <a:lnSpc>
                <a:spcPct val="150000"/>
              </a:lnSpc>
            </a:pPr>
            <a:endParaRPr lang="en-GB" sz="3200" b="0" u="none" strike="noStrike">
              <a:solidFill>
                <a:srgbClr val="000000"/>
              </a:solidFill>
              <a:effectLst/>
              <a:uFillTx/>
              <a:latin typeface="Arial"/>
            </a:endParaRPr>
          </a:p>
          <a:p>
            <a:pPr algn="ctr" defTabSz="914400">
              <a:lnSpc>
                <a:spcPct val="150000"/>
              </a:lnSpc>
              <a:tabLst>
                <a:tab pos="0" algn="l"/>
              </a:tabLst>
            </a:pPr>
            <a:endParaRPr lang="en-GB" sz="3200" b="0" u="none" strike="noStrike">
              <a:solidFill>
                <a:srgbClr val="000000"/>
              </a:solidFill>
              <a:effectLst/>
              <a:uFillTx/>
              <a:latin typeface="Arial"/>
            </a:endParaRPr>
          </a:p>
        </p:txBody>
      </p:sp>
      <p:sp>
        <p:nvSpPr>
          <p:cNvPr id="135" name="Content Placeholder 5"/>
          <p:cNvSpPr/>
          <p:nvPr/>
        </p:nvSpPr>
        <p:spPr>
          <a:xfrm>
            <a:off x="838080" y="1825560"/>
            <a:ext cx="10513800" cy="4349520"/>
          </a:xfrm>
          <a:prstGeom prst="rect">
            <a:avLst/>
          </a:prstGeom>
          <a:noFill/>
          <a:ln w="0">
            <a:noFill/>
          </a:ln>
        </p:spPr>
        <p:style>
          <a:lnRef idx="0"/>
          <a:fillRef idx="0"/>
          <a:effectRef idx="0"/>
          <a:fontRef idx="minor"/>
        </p:style>
        <p:txBody>
          <a:bodyPr lIns="90000" tIns="45000" rIns="90000" bIns="45000" anchor="t">
            <a:noAutofit/>
          </a:bodyPr>
          <a:p>
            <a:endParaRPr lang="en-US" sz="2800" b="0" u="none" strike="noStrike">
              <a:solidFill>
                <a:schemeClr val="dk1"/>
              </a:solidFill>
              <a:effectLst/>
              <a:uFillTx/>
              <a:latin typeface="Calibri"/>
            </a:endParaRPr>
          </a:p>
        </p:txBody>
      </p:sp>
      <p:pic>
        <p:nvPicPr>
          <p:cNvPr id="136" name=""/>
          <p:cNvPicPr/>
          <p:nvPr/>
        </p:nvPicPr>
        <p:blipFill>
          <a:blip r:embed="rId1"/>
          <a:stretch/>
        </p:blipFill>
        <p:spPr>
          <a:xfrm>
            <a:off x="2160000" y="850680"/>
            <a:ext cx="8181720" cy="5447880"/>
          </a:xfrm>
          <a:prstGeom prst="rect">
            <a:avLst/>
          </a:prstGeom>
          <a:noFill/>
          <a:ln w="0">
            <a:noFill/>
          </a:ln>
        </p:spPr>
      </p:pic>
      <p:sp>
        <p:nvSpPr>
          <p:cNvPr id="3" name="PlaceHolder 2"/>
          <p:cNvSpPr>
            <a:spLocks noGrp="1"/>
          </p:cNvSpPr>
          <p:nvPr>
            <p:ph type="ftr" idx="23"/>
          </p:nvPr>
        </p:nvSpPr>
        <p:spPr/>
        <p:txBody>
          <a:bodyPr/>
          <a:p>
            <a:r>
              <a:t>IV B.Tech (CSE) – Major Project Presentation Review-1</a:t>
            </a:r>
          </a:p>
        </p:txBody>
      </p:sp>
      <p:sp>
        <p:nvSpPr>
          <p:cNvPr id="4" name="PlaceHolder 3"/>
          <p:cNvSpPr>
            <a:spLocks noGrp="1"/>
          </p:cNvSpPr>
          <p:nvPr>
            <p:ph type="sldNum" idx="24"/>
          </p:nvPr>
        </p:nvSpPr>
        <p:spPr/>
        <p:txBody>
          <a:bodyPr/>
          <a:p>
            <a:fld id="{55ACB970-4C24-448B-9AA3-8B6749415CA3}"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Rectangle 4"/>
          <p:cNvSpPr/>
          <p:nvPr/>
        </p:nvSpPr>
        <p:spPr>
          <a:xfrm>
            <a:off x="0" y="0"/>
            <a:ext cx="12190320" cy="682200"/>
          </a:xfrm>
          <a:prstGeom prst="rect">
            <a:avLst/>
          </a:prstGeom>
          <a:solidFill>
            <a:schemeClr val="accent6">
              <a:lumMod val="20000"/>
              <a:lumOff val="80000"/>
            </a:schemeClr>
          </a:solidFill>
          <a:ln w="0">
            <a:noFill/>
          </a:ln>
        </p:spPr>
        <p:style>
          <a:lnRef idx="0"/>
          <a:fillRef idx="0"/>
          <a:effectRef idx="0"/>
          <a:fontRef idx="minor"/>
        </p:style>
        <p:txBody>
          <a:bodyPr lIns="90000" tIns="45000" rIns="90000" bIns="45000" anchor="t">
            <a:normAutofit fontScale="85000" lnSpcReduction="9999"/>
          </a:bodyPr>
          <a:p>
            <a:pPr algn="ctr" defTabSz="914400">
              <a:lnSpc>
                <a:spcPct val="150000"/>
              </a:lnSpc>
              <a:tabLst>
                <a:tab pos="0" algn="l"/>
              </a:tabLst>
            </a:pPr>
            <a:r>
              <a:rPr lang="en-US" sz="3200" b="1" u="none" strike="noStrike">
                <a:solidFill>
                  <a:schemeClr val="dk2"/>
                </a:solidFill>
                <a:effectLst/>
                <a:uFillTx/>
                <a:latin typeface="Times New Roman"/>
              </a:rPr>
              <a:t>References</a:t>
            </a:r>
            <a:endParaRPr lang="en-GB" sz="3200" b="0" u="none" strike="noStrike">
              <a:solidFill>
                <a:srgbClr val="000000"/>
              </a:solidFill>
              <a:effectLst/>
              <a:uFillTx/>
              <a:latin typeface="Arial"/>
            </a:endParaRPr>
          </a:p>
          <a:p>
            <a:pPr algn="ctr" defTabSz="914400">
              <a:lnSpc>
                <a:spcPct val="150000"/>
              </a:lnSpc>
              <a:tabLst>
                <a:tab pos="0" algn="l"/>
              </a:tabLst>
            </a:pPr>
            <a:endParaRPr lang="en-GB" sz="3200" b="0" u="none" strike="noStrike">
              <a:solidFill>
                <a:srgbClr val="000000"/>
              </a:solidFill>
              <a:effectLst/>
              <a:uFillTx/>
              <a:latin typeface="Arial"/>
            </a:endParaRPr>
          </a:p>
        </p:txBody>
      </p:sp>
      <p:sp>
        <p:nvSpPr>
          <p:cNvPr id="138" name=""/>
          <p:cNvSpPr/>
          <p:nvPr/>
        </p:nvSpPr>
        <p:spPr>
          <a:xfrm>
            <a:off x="296280" y="720000"/>
            <a:ext cx="11638440" cy="575100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15000"/>
              </a:lnSpc>
              <a:buClr>
                <a:srgbClr val="000000"/>
              </a:buClr>
              <a:buSzPct val="45000"/>
              <a:buFont typeface="Wingdings" charset="2"/>
              <a:buChar char=""/>
            </a:pPr>
            <a:r>
              <a:rPr lang="en-GB" sz="1400" b="0" u="none" strike="noStrike">
                <a:solidFill>
                  <a:srgbClr val="000000"/>
                </a:solidFill>
                <a:effectLst/>
                <a:uFillTx/>
                <a:latin typeface="Arial"/>
              </a:rPr>
              <a:t>[1]. </a:t>
            </a:r>
            <a:r>
              <a:rPr lang="en-GB" sz="1400" b="0" u="none" strike="noStrike">
                <a:solidFill>
                  <a:srgbClr val="333333"/>
                </a:solidFill>
                <a:effectLst/>
                <a:uFillTx/>
                <a:latin typeface="HelveticaNeue Regular;sans-serif"/>
                <a:ea typeface="HelveticaNeue Regular;sans-serif"/>
              </a:rPr>
              <a:t>S. Pan, L. Luo, Y. Wang, C. Chen, J. Wang and X. Wu, "Unifying Large Language Models and Knowledge Graphs: A Roadmap," in </a:t>
            </a:r>
            <a:r>
              <a:rPr lang="en-GB" sz="1400" b="0" i="1" u="none" strike="noStrike">
                <a:solidFill>
                  <a:srgbClr val="333333"/>
                </a:solidFill>
                <a:effectLst/>
                <a:uFillTx/>
                <a:latin typeface="HelveticaNeue Regular;sans-serif"/>
              </a:rPr>
              <a:t>IEEE Transactions on Knowledge and Data Engineering</a:t>
            </a:r>
            <a:r>
              <a:rPr lang="en-GB" sz="1400" b="0" u="none" strike="noStrike">
                <a:solidFill>
                  <a:srgbClr val="333333"/>
                </a:solidFill>
                <a:effectLst/>
                <a:uFillTx/>
                <a:latin typeface="HelveticaNeue Regular;sans-serif"/>
                <a:ea typeface="HelveticaNeue Regular;sans-serif"/>
              </a:rPr>
              <a:t>, vol. 36, no. 7, pp. 3580-3599, July 2024, doi: 10.1109/TKDE.2024.3352100</a:t>
            </a:r>
            <a:r>
              <a:rPr lang="en-GB" sz="1400" b="0" u="none" strike="noStrike">
                <a:solidFill>
                  <a:srgbClr val="000000"/>
                </a:solidFill>
                <a:effectLst/>
                <a:uFillTx/>
                <a:latin typeface="Arial"/>
              </a:rPr>
              <a:t> .</a:t>
            </a:r>
            <a:endParaRPr lang="en-GB" sz="1400" b="0" u="none" strike="noStrike">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GB" sz="1400" b="0" u="none" strike="noStrike">
                <a:solidFill>
                  <a:srgbClr val="000080"/>
                </a:solidFill>
                <a:effectLst/>
                <a:uFillTx/>
                <a:latin typeface="Arial"/>
                <a:hlinkClick r:id="rId1"/>
              </a:rPr>
              <a:t>https://doi.org/10.1109/TKDE.2024.3352100</a:t>
            </a:r>
            <a:endParaRPr lang="en-GB" sz="1400" b="0" u="none" strike="noStrike">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GB" sz="1400" b="0" u="none" strike="noStrike">
                <a:solidFill>
                  <a:srgbClr val="000080"/>
                </a:solidFill>
                <a:effectLst/>
                <a:uFillTx/>
                <a:latin typeface="Arial"/>
              </a:rPr>
              <a:t>[2].</a:t>
            </a:r>
            <a:r>
              <a:rPr lang="en-GB" sz="1400" b="0" u="none" strike="noStrike">
                <a:solidFill>
                  <a:srgbClr val="333333"/>
                </a:solidFill>
                <a:effectLst/>
                <a:uFillTx/>
                <a:latin typeface="HelveticaNeue Regular;sans-serif"/>
                <a:ea typeface="HelveticaNeue Regular;sans-serif"/>
              </a:rPr>
              <a:t>T. T. Procko and O. Ochoa, "Graph Retrieval-Augmented Generation for Large Language Models: A Survey," </a:t>
            </a:r>
            <a:r>
              <a:rPr lang="en-GB" sz="1400" b="0" i="1" u="none" strike="noStrike">
                <a:solidFill>
                  <a:srgbClr val="333333"/>
                </a:solidFill>
                <a:effectLst/>
                <a:uFillTx/>
                <a:latin typeface="HelveticaNeue Regular;sans-serif"/>
              </a:rPr>
              <a:t>2024 Conference on AI, Science, Engineering, and Technology (AIxSET)</a:t>
            </a:r>
            <a:r>
              <a:rPr lang="en-GB" sz="1400" b="0" u="none" strike="noStrike">
                <a:solidFill>
                  <a:srgbClr val="333333"/>
                </a:solidFill>
                <a:effectLst/>
                <a:uFillTx/>
                <a:latin typeface="HelveticaNeue Regular;sans-serif"/>
                <a:ea typeface="HelveticaNeue Regular;sans-serif"/>
              </a:rPr>
              <a:t>, Laguna Hills, CA, USA, 2024, pp. 166-169, doi: 10.1109/AIxSET62544.2024.00030.</a:t>
            </a:r>
            <a:r>
              <a:rPr lang="en-GB" sz="1400" b="0" u="none" strike="noStrike">
                <a:solidFill>
                  <a:srgbClr val="000080"/>
                </a:solidFill>
                <a:effectLst/>
                <a:uFillTx/>
                <a:latin typeface="Arial"/>
              </a:rPr>
              <a:t> </a:t>
            </a:r>
            <a:endParaRPr lang="en-GB" sz="1400" b="0" u="none" strike="noStrike">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GB" sz="1400" b="0" u="none" strike="noStrike">
                <a:solidFill>
                  <a:srgbClr val="000080"/>
                </a:solidFill>
                <a:effectLst/>
                <a:uFillTx/>
                <a:latin typeface="Arial"/>
              </a:rPr>
              <a:t> </a:t>
            </a:r>
            <a:r>
              <a:rPr lang="en-GB" sz="1400" b="0" u="none" strike="noStrike">
                <a:solidFill>
                  <a:srgbClr val="000080"/>
                </a:solidFill>
                <a:effectLst/>
                <a:uFillTx/>
                <a:latin typeface="Arial"/>
                <a:hlinkClick r:id="rId2"/>
              </a:rPr>
              <a:t>https://ieeexplore.ieee.org/document/10771030</a:t>
            </a:r>
            <a:endParaRPr lang="en-GB" sz="1400" b="0" u="none" strike="noStrike">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GB" sz="1400" b="0" u="none" strike="noStrike">
                <a:solidFill>
                  <a:srgbClr val="000080"/>
                </a:solidFill>
                <a:effectLst/>
                <a:uFillTx/>
                <a:latin typeface="Arial"/>
              </a:rPr>
              <a:t>[3]. </a:t>
            </a:r>
            <a:r>
              <a:rPr lang="en-GB" sz="1400" b="0" u="none" strike="noStrike">
                <a:solidFill>
                  <a:srgbClr val="333333"/>
                </a:solidFill>
                <a:effectLst/>
                <a:uFillTx/>
                <a:latin typeface="HelveticaNeue Regular;sans-serif"/>
                <a:ea typeface="HelveticaNeue Regular;sans-serif"/>
              </a:rPr>
              <a:t>Y. Ma </a:t>
            </a:r>
            <a:r>
              <a:rPr lang="en-GB" sz="1400" b="0" i="1" u="none" strike="noStrike">
                <a:solidFill>
                  <a:srgbClr val="333333"/>
                </a:solidFill>
                <a:effectLst/>
                <a:uFillTx/>
                <a:latin typeface="HelveticaNeue Regular;sans-serif"/>
              </a:rPr>
              <a:t>et al</a:t>
            </a:r>
            <a:r>
              <a:rPr lang="en-GB" sz="1400" b="0" u="none" strike="noStrike">
                <a:solidFill>
                  <a:srgbClr val="333333"/>
                </a:solidFill>
                <a:effectLst/>
                <a:uFillTx/>
                <a:latin typeface="HelveticaNeue Regular;sans-serif"/>
                <a:ea typeface="HelveticaNeue Regular;sans-serif"/>
              </a:rPr>
              <a:t>., "A Survey of Retrieval-Augmented Generation (RAG) for Large Language Models," </a:t>
            </a:r>
            <a:r>
              <a:rPr lang="en-GB" sz="1400" b="0" i="1" u="none" strike="noStrike">
                <a:solidFill>
                  <a:srgbClr val="333333"/>
                </a:solidFill>
                <a:effectLst/>
                <a:uFillTx/>
                <a:latin typeface="HelveticaNeue Regular;sans-serif"/>
              </a:rPr>
              <a:t>2025 International Conference on Trustworthy Big Data and Artificial Intelligence (ICTBAI)</a:t>
            </a:r>
            <a:r>
              <a:rPr lang="en-GB" sz="1400" b="0" u="none" strike="noStrike">
                <a:solidFill>
                  <a:srgbClr val="333333"/>
                </a:solidFill>
                <a:effectLst/>
                <a:uFillTx/>
                <a:latin typeface="HelveticaNeue Regular;sans-serif"/>
                <a:ea typeface="HelveticaNeue Regular;sans-serif"/>
              </a:rPr>
              <a:t>, Tokyo, Japan, 2025, pp. 7-13, doi: 10.1109/ICTBAI68361.2025.00008.</a:t>
            </a:r>
            <a:r>
              <a:rPr lang="en-GB" sz="1400" b="0" u="none" strike="noStrike">
                <a:solidFill>
                  <a:srgbClr val="000080"/>
                </a:solidFill>
                <a:effectLst/>
                <a:uFillTx/>
                <a:latin typeface="Arial"/>
              </a:rPr>
              <a:t> </a:t>
            </a:r>
            <a:endParaRPr lang="en-GB" sz="1400" b="0" u="none" strike="noStrike">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GB" sz="1400" b="0" u="none" strike="noStrike">
                <a:solidFill>
                  <a:srgbClr val="000080"/>
                </a:solidFill>
                <a:effectLst/>
                <a:uFillTx/>
                <a:latin typeface="Arial"/>
              </a:rPr>
              <a:t> </a:t>
            </a:r>
            <a:r>
              <a:rPr lang="en-GB" sz="1400" b="0" u="none" strike="noStrike">
                <a:solidFill>
                  <a:srgbClr val="000080"/>
                </a:solidFill>
                <a:effectLst/>
                <a:uFillTx/>
                <a:latin typeface="Arial"/>
                <a:hlinkClick r:id="rId3"/>
              </a:rPr>
              <a:t>https://doi.org/10.1109/ICTBAI68361.2025.00008</a:t>
            </a:r>
            <a:endParaRPr lang="en-GB" sz="1400" b="0" u="none" strike="noStrike">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GB" sz="1400" b="0" u="none" strike="noStrike">
                <a:solidFill>
                  <a:srgbClr val="000080"/>
                </a:solidFill>
                <a:effectLst/>
                <a:uFillTx/>
                <a:latin typeface="Arial"/>
              </a:rPr>
              <a:t>[4].</a:t>
            </a:r>
            <a:r>
              <a:rPr lang="en-GB" sz="1400" b="0" u="none" strike="noStrike">
                <a:solidFill>
                  <a:srgbClr val="333333"/>
                </a:solidFill>
                <a:effectLst/>
                <a:uFillTx/>
                <a:latin typeface="HelveticaNeue Regular;sans-serif"/>
                <a:ea typeface="HelveticaNeue Regular;sans-serif"/>
              </a:rPr>
              <a:t>Q. Wang, Z. Mao, B. Wang and L. Guo, "Knowledge Graph Embedding: A Survey of Approaches and Applications," in </a:t>
            </a:r>
            <a:r>
              <a:rPr lang="en-GB" sz="1400" b="0" i="1" u="none" strike="noStrike">
                <a:solidFill>
                  <a:srgbClr val="333333"/>
                </a:solidFill>
                <a:effectLst/>
                <a:uFillTx/>
                <a:latin typeface="HelveticaNeue Regular;sans-serif"/>
              </a:rPr>
              <a:t>IEEE Transactions on Knowledge and Data Engineering</a:t>
            </a:r>
            <a:r>
              <a:rPr lang="en-GB" sz="1400" b="0" u="none" strike="noStrike">
                <a:solidFill>
                  <a:srgbClr val="333333"/>
                </a:solidFill>
                <a:effectLst/>
                <a:uFillTx/>
                <a:latin typeface="HelveticaNeue Regular;sans-serif"/>
                <a:ea typeface="HelveticaNeue Regular;sans-serif"/>
              </a:rPr>
              <a:t>, vol. 29, no. 12, pp. 2724-2743, 1 Dec. 2017, doi: 10.1109/TKDE.2017.2754499.</a:t>
            </a:r>
            <a:endParaRPr lang="en-GB" sz="1400" b="0" u="none" strike="noStrike">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GB" sz="1400" b="0" u="none" strike="noStrike">
                <a:solidFill>
                  <a:srgbClr val="000080"/>
                </a:solidFill>
                <a:effectLst/>
                <a:uFillTx/>
                <a:latin typeface="Arial"/>
              </a:rPr>
              <a:t> </a:t>
            </a:r>
            <a:r>
              <a:rPr lang="en-GB" sz="1400" b="0" u="none" strike="noStrike">
                <a:solidFill>
                  <a:srgbClr val="000080"/>
                </a:solidFill>
                <a:effectLst/>
                <a:uFillTx/>
                <a:latin typeface="Arial"/>
                <a:hlinkClick r:id="rId4"/>
              </a:rPr>
              <a:t>https://ieeexplore.ieee.org/document/8047276</a:t>
            </a:r>
            <a:endParaRPr lang="en-GB"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45000"/>
              <a:buFont typeface="Wingdings" charset="2"/>
              <a:buChar char=""/>
            </a:pPr>
            <a:r>
              <a:rPr lang="en-GB" sz="1400" b="0" u="none" strike="noStrike">
                <a:solidFill>
                  <a:srgbClr val="000000"/>
                </a:solidFill>
                <a:effectLst/>
                <a:uFillTx/>
                <a:latin typeface="Arial"/>
              </a:rPr>
              <a:t>LangChain Documentation. </a:t>
            </a:r>
            <a:r>
              <a:rPr lang="en-GB" sz="1400" b="0" u="none" strike="noStrike">
                <a:solidFill>
                  <a:srgbClr val="0563C1"/>
                </a:solidFill>
                <a:effectLst/>
                <a:uFillTx/>
                <a:latin typeface="Arial"/>
                <a:hlinkClick r:id="rId5"/>
              </a:rPr>
              <a:t>https://python.langchain.com/</a:t>
            </a:r>
            <a:r>
              <a:rPr lang="en-GB" sz="1400" b="0" u="none" strike="noStrike">
                <a:solidFill>
                  <a:srgbClr val="000000"/>
                </a:solidFill>
                <a:effectLst/>
                <a:uFillTx/>
                <a:latin typeface="Arial"/>
              </a:rPr>
              <a:t> </a:t>
            </a:r>
            <a:endParaRPr lang="en-GB"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45000"/>
              <a:buFont typeface="Wingdings" charset="2"/>
              <a:buChar char=""/>
            </a:pPr>
            <a:r>
              <a:rPr lang="en-GB" sz="1400" b="0" u="none" strike="noStrike">
                <a:solidFill>
                  <a:srgbClr val="000000"/>
                </a:solidFill>
                <a:effectLst/>
                <a:uFillTx/>
                <a:latin typeface="Arial"/>
              </a:rPr>
              <a:t>Neo4j Documentation. </a:t>
            </a:r>
            <a:r>
              <a:rPr lang="en-GB" sz="1400" b="0" u="none" strike="noStrike">
                <a:solidFill>
                  <a:srgbClr val="0563C1"/>
                </a:solidFill>
                <a:effectLst/>
                <a:uFillTx/>
                <a:latin typeface="Arial"/>
                <a:hlinkClick r:id="rId6"/>
              </a:rPr>
              <a:t>https://neo4j.com/docs/</a:t>
            </a:r>
            <a:r>
              <a:rPr lang="en-GB" sz="1400" b="0" u="none" strike="noStrike">
                <a:solidFill>
                  <a:srgbClr val="000000"/>
                </a:solidFill>
                <a:effectLst/>
                <a:uFillTx/>
                <a:latin typeface="Arial"/>
              </a:rPr>
              <a:t> </a:t>
            </a:r>
            <a:endParaRPr lang="en-GB"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45000"/>
              <a:buFont typeface="Wingdings" charset="2"/>
              <a:buChar char=""/>
            </a:pPr>
            <a:r>
              <a:rPr lang="en-GB" sz="1400" b="0" u="none" strike="noStrike">
                <a:solidFill>
                  <a:srgbClr val="000000"/>
                </a:solidFill>
                <a:effectLst/>
                <a:uFillTx/>
                <a:latin typeface="Arial"/>
              </a:rPr>
              <a:t>ChromaDB Documentation. </a:t>
            </a:r>
            <a:r>
              <a:rPr lang="en-GB" sz="1400" b="0" u="none" strike="noStrike">
                <a:solidFill>
                  <a:srgbClr val="0563C1"/>
                </a:solidFill>
                <a:effectLst/>
                <a:uFillTx/>
                <a:latin typeface="Arial"/>
                <a:hlinkClick r:id="rId7"/>
              </a:rPr>
              <a:t>https://docs.trychroma.com/</a:t>
            </a:r>
            <a:r>
              <a:rPr lang="en-GB" sz="1400" b="0" u="none" strike="noStrike">
                <a:solidFill>
                  <a:srgbClr val="000000"/>
                </a:solidFill>
                <a:effectLst/>
                <a:uFillTx/>
                <a:latin typeface="Arial"/>
              </a:rPr>
              <a:t> </a:t>
            </a:r>
            <a:endParaRPr lang="en-GB"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45000"/>
              <a:buFont typeface="Wingdings" charset="2"/>
              <a:buChar char=""/>
            </a:pPr>
            <a:r>
              <a:rPr lang="en-GB" sz="1400" b="0" u="none" strike="noStrike">
                <a:solidFill>
                  <a:srgbClr val="000000"/>
                </a:solidFill>
                <a:effectLst/>
                <a:uFillTx/>
                <a:latin typeface="Arial"/>
              </a:rPr>
              <a:t>OpenAlex API Documentation. </a:t>
            </a:r>
            <a:r>
              <a:rPr lang="en-GB" sz="1400" b="0" u="none" strike="noStrike">
                <a:solidFill>
                  <a:srgbClr val="0563C1"/>
                </a:solidFill>
                <a:effectLst/>
                <a:uFillTx/>
                <a:latin typeface="Arial"/>
                <a:hlinkClick r:id="rId8"/>
              </a:rPr>
              <a:t>https://docs.openalex.org/</a:t>
            </a:r>
            <a:r>
              <a:rPr lang="en-GB" sz="1400" b="0" u="none" strike="noStrike">
                <a:solidFill>
                  <a:srgbClr val="000000"/>
                </a:solidFill>
                <a:effectLst/>
                <a:uFillTx/>
                <a:latin typeface="Arial"/>
              </a:rPr>
              <a:t> </a:t>
            </a:r>
            <a:endParaRPr lang="en-GB"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45000"/>
              <a:buFont typeface="Wingdings" charset="2"/>
              <a:buChar char=""/>
            </a:pPr>
            <a:r>
              <a:rPr lang="en-GB" sz="1400" b="0" u="none" strike="noStrike">
                <a:solidFill>
                  <a:srgbClr val="000000"/>
                </a:solidFill>
                <a:effectLst/>
                <a:uFillTx/>
                <a:latin typeface="Arial"/>
              </a:rPr>
              <a:t>arXiv API Documentation. https://info.arxiv.org/help/api/ </a:t>
            </a:r>
            <a:endParaRPr lang="en-GB"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45000"/>
              <a:buFont typeface="Wingdings" charset="2"/>
              <a:buChar char=""/>
            </a:pPr>
            <a:r>
              <a:rPr lang="en-GB" sz="1400" b="0" u="none" strike="noStrike">
                <a:solidFill>
                  <a:srgbClr val="000000"/>
                </a:solidFill>
                <a:effectLst/>
                <a:uFillTx/>
                <a:latin typeface="Arial"/>
              </a:rPr>
              <a:t>Google Scholar. </a:t>
            </a:r>
            <a:r>
              <a:rPr lang="en-GB" sz="1400" b="0" u="none" strike="noStrike">
                <a:solidFill>
                  <a:srgbClr val="0563C1"/>
                </a:solidFill>
                <a:effectLst/>
                <a:uFillTx/>
                <a:latin typeface="Arial"/>
                <a:hlinkClick r:id="rId9"/>
              </a:rPr>
              <a:t>https://scholar.google.com/</a:t>
            </a:r>
            <a:r>
              <a:rPr lang="en-GB" sz="1400" b="0" u="none" strike="noStrike">
                <a:solidFill>
                  <a:srgbClr val="000000"/>
                </a:solidFill>
                <a:effectLst/>
                <a:uFillTx/>
                <a:latin typeface="Arial"/>
              </a:rPr>
              <a:t> </a:t>
            </a:r>
            <a:endParaRPr lang="en-GB"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45000"/>
              <a:buFont typeface="Wingdings" charset="2"/>
              <a:buChar char=""/>
            </a:pPr>
            <a:r>
              <a:rPr lang="en-GB" sz="1400" b="0" u="none" strike="noStrike">
                <a:solidFill>
                  <a:srgbClr val="000000"/>
                </a:solidFill>
                <a:effectLst/>
                <a:uFillTx/>
                <a:latin typeface="Arial"/>
              </a:rPr>
              <a:t>IEEE Xplore Digital Library. </a:t>
            </a:r>
            <a:r>
              <a:rPr lang="en-GB" sz="1400" b="0" u="none" strike="noStrike">
                <a:solidFill>
                  <a:srgbClr val="0563C1"/>
                </a:solidFill>
                <a:effectLst/>
                <a:uFillTx/>
                <a:latin typeface="Arial"/>
                <a:hlinkClick r:id="rId10"/>
              </a:rPr>
              <a:t>https://ieeexplore.ieee.org/</a:t>
            </a:r>
            <a:r>
              <a:rPr lang="en-GB" sz="1400" b="0" u="none" strike="noStrike">
                <a:solidFill>
                  <a:srgbClr val="000000"/>
                </a:solidFill>
                <a:effectLst/>
                <a:uFillTx/>
                <a:latin typeface="Arial"/>
              </a:rPr>
              <a:t> </a:t>
            </a:r>
            <a:endParaRPr lang="en-GB" sz="1400" b="0" u="none" strike="noStrike">
              <a:solidFill>
                <a:srgbClr val="000000"/>
              </a:solidFill>
              <a:effectLst/>
              <a:uFillTx/>
              <a:latin typeface="Arial"/>
            </a:endParaRPr>
          </a:p>
          <a:p>
            <a:pPr marL="216000" indent="-216000">
              <a:lnSpc>
                <a:spcPct val="100000"/>
              </a:lnSpc>
              <a:spcBef>
                <a:spcPts val="624"/>
              </a:spcBef>
              <a:spcAft>
                <a:spcPts val="425"/>
              </a:spcAft>
              <a:buClr>
                <a:srgbClr val="000000"/>
              </a:buClr>
              <a:buSzPct val="45000"/>
              <a:buFont typeface="Wingdings" charset="2"/>
              <a:buChar char=""/>
            </a:pPr>
            <a:r>
              <a:rPr lang="en-GB" sz="1400" b="0" u="none" strike="noStrike">
                <a:solidFill>
                  <a:srgbClr val="000000"/>
                </a:solidFill>
                <a:effectLst/>
                <a:uFillTx/>
                <a:latin typeface="Arial"/>
              </a:rPr>
              <a:t>Semantic Scholar. </a:t>
            </a:r>
            <a:r>
              <a:rPr lang="en-GB" sz="1400" b="0" u="none" strike="noStrike">
                <a:solidFill>
                  <a:srgbClr val="0563C1"/>
                </a:solidFill>
                <a:effectLst/>
                <a:uFillTx/>
                <a:latin typeface="Arial"/>
                <a:hlinkClick r:id="rId11"/>
              </a:rPr>
              <a:t>https://www.semanticscholar.org/</a:t>
            </a:r>
            <a:r>
              <a:rPr lang="en-GB" sz="1400" b="0" u="none" strike="noStrike">
                <a:solidFill>
                  <a:srgbClr val="000000"/>
                </a:solidFill>
                <a:effectLst/>
                <a:uFillTx/>
                <a:latin typeface="Arial"/>
              </a:rPr>
              <a:t> </a:t>
            </a:r>
            <a:endParaRPr lang="en-GB" sz="1400" b="0" u="none" strike="noStrike">
              <a:solidFill>
                <a:srgbClr val="000000"/>
              </a:solidFill>
              <a:effectLst/>
              <a:uFillTx/>
              <a:latin typeface="Arial"/>
            </a:endParaRPr>
          </a:p>
        </p:txBody>
      </p:sp>
      <p:sp>
        <p:nvSpPr>
          <p:cNvPr id="2" name="PlaceHolder 1"/>
          <p:cNvSpPr>
            <a:spLocks noGrp="1"/>
          </p:cNvSpPr>
          <p:nvPr>
            <p:ph type="ftr" idx="23"/>
          </p:nvPr>
        </p:nvSpPr>
        <p:spPr/>
        <p:txBody>
          <a:bodyPr/>
          <a:p>
            <a:r>
              <a:t>IV B.Tech (CSE) – Major Project Presentation Review-1</a:t>
            </a:r>
          </a:p>
        </p:txBody>
      </p:sp>
      <p:sp>
        <p:nvSpPr>
          <p:cNvPr id="3" name="PlaceHolder 2"/>
          <p:cNvSpPr>
            <a:spLocks noGrp="1"/>
          </p:cNvSpPr>
          <p:nvPr>
            <p:ph type="sldNum" idx="24"/>
          </p:nvPr>
        </p:nvSpPr>
        <p:spPr/>
        <p:txBody>
          <a:bodyPr/>
          <a:p>
            <a:fld id="{E3B56A92-48FB-4609-92E7-FDA2EBCEA9C0}"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p:nvPr>
        </p:nvSpPr>
        <p:spPr>
          <a:xfrm>
            <a:off x="838080" y="1260000"/>
            <a:ext cx="10513800" cy="4349520"/>
          </a:xfrm>
          <a:prstGeom prst="rect">
            <a:avLst/>
          </a:prstGeom>
          <a:noFill/>
          <a:ln w="0">
            <a:noFill/>
          </a:ln>
        </p:spPr>
        <p:txBody>
          <a:bodyPr lIns="91440" tIns="45720" rIns="91440" bIns="45720" anchor="t">
            <a:noAutofit/>
          </a:bodyPr>
          <a:p>
            <a:pPr indent="0" algn="l" defTabSz="914400">
              <a:lnSpc>
                <a:spcPct val="90000"/>
              </a:lnSpc>
              <a:spcBef>
                <a:spcPts val="1001"/>
              </a:spcBef>
              <a:buNone/>
            </a:pPr>
            <a:endParaRPr lang="en-US" sz="2800" b="0" u="none" strike="noStrike">
              <a:solidFill>
                <a:schemeClr val="dk1"/>
              </a:solidFill>
              <a:effectLst/>
              <a:uFillTx/>
              <a:latin typeface="Calibri"/>
            </a:endParaRPr>
          </a:p>
        </p:txBody>
      </p:sp>
      <p:sp>
        <p:nvSpPr>
          <p:cNvPr id="140" name="PlaceHolder 2"/>
          <p:cNvSpPr>
            <a:spLocks noGrp="1"/>
          </p:cNvSpPr>
          <p:nvPr>
            <p:ph type="ftr" idx="45"/>
          </p:nvPr>
        </p:nvSpPr>
        <p:spPr>
          <a:xfrm>
            <a:off x="4038480" y="6356520"/>
            <a:ext cx="470232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IV B.Tech (CSE) – Major Project Presentation Review-1</a:t>
            </a:r>
            <a:endParaRPr lang="en-GB" sz="1200" b="0" u="none" strike="noStrike">
              <a:solidFill>
                <a:srgbClr val="000000"/>
              </a:solidFill>
              <a:effectLst/>
              <a:uFillTx/>
              <a:latin typeface="Times New Roman"/>
            </a:endParaRPr>
          </a:p>
        </p:txBody>
      </p:sp>
      <p:pic>
        <p:nvPicPr>
          <p:cNvPr id="141" name="Picture 6"/>
          <p:cNvPicPr/>
          <p:nvPr/>
        </p:nvPicPr>
        <p:blipFill>
          <a:blip r:embed="rId1"/>
          <a:stretch/>
        </p:blipFill>
        <p:spPr>
          <a:xfrm>
            <a:off x="1314000" y="1260000"/>
            <a:ext cx="10037880" cy="4458600"/>
          </a:xfrm>
          <a:prstGeom prst="rect">
            <a:avLst/>
          </a:prstGeom>
          <a:noFill/>
          <a:ln w="0">
            <a:noFill/>
          </a:ln>
        </p:spPr>
      </p:pic>
      <p:sp>
        <p:nvSpPr>
          <p:cNvPr id="4" name="PlaceHolder 3"/>
          <p:cNvSpPr>
            <a:spLocks noGrp="1"/>
          </p:cNvSpPr>
          <p:nvPr>
            <p:ph type="sldNum" idx="24"/>
          </p:nvPr>
        </p:nvSpPr>
        <p:spPr/>
        <p:txBody>
          <a:bodyPr/>
          <a:p>
            <a:fld id="{06410ADC-E054-4D66-BD32-4FC3413C71E4}" type="slidenum">
              <a:t>14</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2090</TotalTime>
  <Application>LibreOffice/26.2.5.2$Windows_X86_64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2019-07-19T06:49:32Z</dcterms:created>
  <dc:creator>Dr Amit Kumar Professor CSE</dc:creator>
  <dc:description/>
  <dc:language>en-GB</dc:language>
  <cp:lastModifiedBy/>
  <dcterms:modified xsi:type="dcterms:W3CDTF">2026-08-12T19:30:53Z</dcterms:modified>
  <cp:revision>840</cp:revision>
  <dc:subject/>
  <dc:title>TITLE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vt:r8>
  </property>
  <property fmtid="{D5CDD505-2E9C-101B-9397-08002B2CF9AE}" pid="3" name="PresentationFormat">
    <vt:lpwstr>Widescreen</vt:lpwstr>
  </property>
  <property fmtid="{D5CDD505-2E9C-101B-9397-08002B2CF9AE}" pid="4" name="Slides">
    <vt:r8>13</vt:r8>
  </property>
</Properties>
</file>